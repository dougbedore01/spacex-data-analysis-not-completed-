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3"/>
  </p:notesMasterIdLst>
  <p:handoutMasterIdLst>
    <p:handoutMasterId r:id="rId54"/>
  </p:handoutMasterIdLst>
  <p:sldIdLst>
    <p:sldId id="327" r:id="rId5"/>
    <p:sldId id="330" r:id="rId6"/>
    <p:sldId id="331" r:id="rId7"/>
    <p:sldId id="332" r:id="rId8"/>
    <p:sldId id="298" r:id="rId9"/>
    <p:sldId id="262" r:id="rId10"/>
    <p:sldId id="263" r:id="rId11"/>
    <p:sldId id="299" r:id="rId12"/>
    <p:sldId id="302" r:id="rId13"/>
    <p:sldId id="264" r:id="rId14"/>
    <p:sldId id="266" r:id="rId15"/>
    <p:sldId id="334" r:id="rId16"/>
    <p:sldId id="265" r:id="rId17"/>
    <p:sldId id="276" r:id="rId18"/>
    <p:sldId id="303" r:id="rId19"/>
    <p:sldId id="293" r:id="rId20"/>
    <p:sldId id="277" r:id="rId21"/>
    <p:sldId id="336" r:id="rId22"/>
    <p:sldId id="284" r:id="rId23"/>
    <p:sldId id="269" r:id="rId24"/>
    <p:sldId id="304" r:id="rId25"/>
    <p:sldId id="305" r:id="rId26"/>
    <p:sldId id="307" r:id="rId27"/>
    <p:sldId id="306" r:id="rId28"/>
    <p:sldId id="308" r:id="rId29"/>
    <p:sldId id="270" r:id="rId30"/>
    <p:sldId id="309" r:id="rId31"/>
    <p:sldId id="310" r:id="rId32"/>
    <p:sldId id="311" r:id="rId33"/>
    <p:sldId id="312" r:id="rId34"/>
    <p:sldId id="314" r:id="rId35"/>
    <p:sldId id="313" r:id="rId36"/>
    <p:sldId id="315" r:id="rId37"/>
    <p:sldId id="316" r:id="rId38"/>
    <p:sldId id="317" r:id="rId39"/>
    <p:sldId id="294" r:id="rId40"/>
    <p:sldId id="296" r:id="rId41"/>
    <p:sldId id="318" r:id="rId42"/>
    <p:sldId id="319" r:id="rId43"/>
    <p:sldId id="321" r:id="rId44"/>
    <p:sldId id="322" r:id="rId45"/>
    <p:sldId id="323" r:id="rId46"/>
    <p:sldId id="324" r:id="rId47"/>
    <p:sldId id="288" r:id="rId48"/>
    <p:sldId id="289" r:id="rId49"/>
    <p:sldId id="320" r:id="rId50"/>
    <p:sldId id="274" r:id="rId51"/>
    <p:sldId id="329" r:id="rId52"/>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49CB"/>
    <a:srgbClr val="0948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01"/>
    <p:restoredTop sz="93981" autoAdjust="0"/>
  </p:normalViewPr>
  <p:slideViewPr>
    <p:cSldViewPr snapToGrid="0" snapToObjects="1">
      <p:cViewPr>
        <p:scale>
          <a:sx n="42" d="100"/>
          <a:sy n="42" d="100"/>
        </p:scale>
        <p:origin x="1779" y="5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7/12/2025</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7/12/2025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02B2E-A764-2707-4217-F202F065F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CEE8A-F6EB-D8F1-1928-2C3F05CBF2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CE6F7-83BE-B24D-4CDF-24D5E238660D}"/>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0DB3F871-260A-ABBF-7BCC-73CDCB5E8EF0}"/>
              </a:ext>
            </a:extLst>
          </p:cNvPr>
          <p:cNvSpPr>
            <a:spLocks noGrp="1"/>
          </p:cNvSpPr>
          <p:nvPr>
            <p:ph type="sldNum" sz="quarter" idx="5"/>
          </p:nvPr>
        </p:nvSpPr>
        <p:spPr/>
        <p:txBody>
          <a:bodyPr/>
          <a:lstStyle/>
          <a:p>
            <a:fld id="{EEBDA0E2-FEBD-4B65-8F16-724CF984F377}" type="slidenum">
              <a:rPr lang="en-US" smtClean="0"/>
              <a:t>18</a:t>
            </a:fld>
            <a:endParaRPr lang="en-US"/>
          </a:p>
        </p:txBody>
      </p:sp>
    </p:spTree>
    <p:extLst>
      <p:ext uri="{BB962C8B-B14F-4D97-AF65-F5344CB8AC3E}">
        <p14:creationId xmlns:p14="http://schemas.microsoft.com/office/powerpoint/2010/main" val="185021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7/12/2025</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DougBedore01/README.md/blob/main/jupyter-labs-spacex-data-collection-api.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DougBedore01/README.md/blob/main/jupyter-labs-webscraping.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DougBedore01/README.md/blob/main/labs-jupyter-spacex-Data%20wrangling.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DougBedore01/README.md/blob/main/edadataviz.ipynb"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ougBedore01/README.md/blob/main/jupyter-labs-eda-sql-coursera_sqllite.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DougBedore01/README.md/blob/main/lab_jupyter_launch_site_location.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DougBedore01/README.md/blob/main/scapex-dash-app_2.py"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DougBedore01/README.md/blob/main/SpaceX_Machine%20Learning%20Prediction_Part_5.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a:solidFill>
                  <a:schemeClr val="bg2"/>
                </a:solidFill>
                <a:latin typeface="Abadi"/>
                <a:ea typeface="SF Pro" pitchFamily="2" charset="0"/>
                <a:cs typeface="SF Pro" pitchFamily="2" charset="0"/>
              </a:rPr>
              <a:t>&lt;Name&gt;</a:t>
            </a:r>
          </a:p>
          <a:p>
            <a:r>
              <a:rPr lang="en-US" dirty="0">
                <a:solidFill>
                  <a:schemeClr val="bg2"/>
                </a:solidFill>
                <a:latin typeface="Abadi" panose="020B0604020104020204" pitchFamily="34" charset="0"/>
                <a:ea typeface="SF Pro" pitchFamily="2" charset="0"/>
                <a:cs typeface="SF Pro" pitchFamily="2" charset="0"/>
              </a:rPr>
              <a:t>&lt;Date&gt;</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734028" y="1657985"/>
            <a:ext cx="11037676" cy="4105142"/>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1800" dirty="0">
                <a:solidFill>
                  <a:schemeClr val="accent3">
                    <a:lumMod val="25000"/>
                  </a:schemeClr>
                </a:solidFill>
                <a:latin typeface="Abadi" panose="020B0604020104020204" pitchFamily="34" charset="0"/>
              </a:rPr>
              <a:t>Summary of methodologies:</a:t>
            </a:r>
          </a:p>
          <a:p>
            <a:pPr>
              <a:lnSpc>
                <a:spcPct val="120000"/>
              </a:lnSpc>
              <a:spcBef>
                <a:spcPts val="1400"/>
              </a:spcBef>
            </a:pPr>
            <a:r>
              <a:rPr lang="en-US" sz="1200" dirty="0">
                <a:solidFill>
                  <a:schemeClr val="accent3">
                    <a:lumMod val="25000"/>
                  </a:schemeClr>
                </a:solidFill>
                <a:latin typeface="Abadi"/>
              </a:rPr>
              <a:t>Data collection</a:t>
            </a:r>
          </a:p>
          <a:p>
            <a:pPr>
              <a:lnSpc>
                <a:spcPct val="120000"/>
              </a:lnSpc>
              <a:spcBef>
                <a:spcPts val="1400"/>
              </a:spcBef>
            </a:pPr>
            <a:r>
              <a:rPr lang="en-US" sz="1200" dirty="0">
                <a:solidFill>
                  <a:schemeClr val="accent3">
                    <a:lumMod val="25000"/>
                  </a:schemeClr>
                </a:solidFill>
                <a:latin typeface="Abadi"/>
              </a:rPr>
              <a:t>Data Wrangling (Cleaning)</a:t>
            </a:r>
          </a:p>
          <a:p>
            <a:pPr>
              <a:lnSpc>
                <a:spcPct val="120000"/>
              </a:lnSpc>
              <a:spcBef>
                <a:spcPts val="1400"/>
              </a:spcBef>
            </a:pPr>
            <a:r>
              <a:rPr lang="en-US" sz="1200" dirty="0">
                <a:solidFill>
                  <a:schemeClr val="accent3">
                    <a:lumMod val="25000"/>
                  </a:schemeClr>
                </a:solidFill>
                <a:latin typeface="Abadi"/>
              </a:rPr>
              <a:t>Explore the Data: </a:t>
            </a:r>
          </a:p>
          <a:p>
            <a:pPr marL="0" indent="0">
              <a:lnSpc>
                <a:spcPct val="120000"/>
              </a:lnSpc>
              <a:spcBef>
                <a:spcPts val="1400"/>
              </a:spcBef>
              <a:buNone/>
            </a:pPr>
            <a:r>
              <a:rPr lang="en-US" sz="1200" dirty="0">
                <a:solidFill>
                  <a:schemeClr val="accent3">
                    <a:lumMod val="25000"/>
                  </a:schemeClr>
                </a:solidFill>
                <a:latin typeface="Abadi"/>
              </a:rPr>
              <a:t>	Exploratory Data Analysis (EDA) using visualization and SQL</a:t>
            </a:r>
          </a:p>
          <a:p>
            <a:pPr marL="0" indent="0">
              <a:lnSpc>
                <a:spcPct val="120000"/>
              </a:lnSpc>
              <a:spcBef>
                <a:spcPts val="1400"/>
              </a:spcBef>
              <a:buNone/>
            </a:pPr>
            <a:r>
              <a:rPr lang="en-US" sz="1200" dirty="0">
                <a:solidFill>
                  <a:schemeClr val="accent3">
                    <a:lumMod val="25000"/>
                  </a:schemeClr>
                </a:solidFill>
                <a:latin typeface="Abadi"/>
              </a:rPr>
              <a:t>	Interactive Visual Analytics using Folium and </a:t>
            </a:r>
            <a:r>
              <a:rPr lang="en-US" sz="1200" dirty="0" err="1">
                <a:solidFill>
                  <a:schemeClr val="accent3">
                    <a:lumMod val="25000"/>
                  </a:schemeClr>
                </a:solidFill>
                <a:latin typeface="Abadi"/>
              </a:rPr>
              <a:t>Plotly</a:t>
            </a:r>
            <a:r>
              <a:rPr lang="en-US" sz="1200" dirty="0">
                <a:solidFill>
                  <a:schemeClr val="accent3">
                    <a:lumMod val="25000"/>
                  </a:schemeClr>
                </a:solidFill>
                <a:latin typeface="Abadi"/>
              </a:rPr>
              <a:t> Dash</a:t>
            </a:r>
          </a:p>
          <a:p>
            <a:pPr>
              <a:lnSpc>
                <a:spcPct val="120000"/>
              </a:lnSpc>
              <a:spcBef>
                <a:spcPts val="1400"/>
              </a:spcBef>
            </a:pPr>
            <a:r>
              <a:rPr lang="en-US" sz="1200" dirty="0">
                <a:solidFill>
                  <a:schemeClr val="accent3">
                    <a:lumMod val="25000"/>
                  </a:schemeClr>
                </a:solidFill>
                <a:latin typeface="Abadi"/>
              </a:rPr>
              <a:t>Modelling: Predictive Analysis using Classification Models</a:t>
            </a:r>
          </a:p>
          <a:p>
            <a:pPr>
              <a:lnSpc>
                <a:spcPct val="120000"/>
              </a:lnSpc>
              <a:spcBef>
                <a:spcPts val="1400"/>
              </a:spcBef>
            </a:pPr>
            <a:r>
              <a:rPr lang="en-US" sz="1200" dirty="0">
                <a:solidFill>
                  <a:schemeClr val="accent3">
                    <a:lumMod val="25000"/>
                  </a:schemeClr>
                </a:solidFill>
                <a:latin typeface="Abadi"/>
              </a:rPr>
              <a:t>Assess the results</a:t>
            </a:r>
          </a:p>
          <a:p>
            <a:pPr marL="0" indent="0">
              <a:lnSpc>
                <a:spcPct val="120000"/>
              </a:lnSpc>
              <a:spcBef>
                <a:spcPts val="1400"/>
              </a:spcBef>
              <a:buNone/>
            </a:pPr>
            <a:endParaRPr lang="en-US" sz="1200" dirty="0">
              <a:solidFill>
                <a:schemeClr val="accent3">
                  <a:lumMod val="25000"/>
                </a:schemeClr>
              </a:solidFill>
              <a:latin typeface="Abadi" panose="020B0604020104020204" pitchFamily="34" charset="0"/>
            </a:endParaRPr>
          </a:p>
          <a:p>
            <a:pPr>
              <a:lnSpc>
                <a:spcPct val="100000"/>
              </a:lnSpc>
              <a:spcBef>
                <a:spcPts val="1400"/>
              </a:spcBef>
            </a:pPr>
            <a:r>
              <a:rPr lang="en-US" sz="1800" dirty="0">
                <a:solidFill>
                  <a:schemeClr val="accent3">
                    <a:lumMod val="25000"/>
                  </a:schemeClr>
                </a:solidFill>
                <a:latin typeface="Abadi" panose="020B0604020104020204" pitchFamily="34" charset="0"/>
              </a:rPr>
              <a:t>Summary of all results</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828068" y="1669349"/>
            <a:ext cx="11063585" cy="31104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400" dirty="0">
                <a:solidFill>
                  <a:schemeClr val="tx1"/>
                </a:solidFill>
                <a:latin typeface="Abadi" panose="020B0604020104020204" pitchFamily="34" charset="0"/>
              </a:rPr>
              <a:t>Project background and context:</a:t>
            </a:r>
          </a:p>
          <a:p>
            <a:pPr lvl="1">
              <a:spcBef>
                <a:spcPts val="1400"/>
              </a:spcBef>
            </a:pPr>
            <a:r>
              <a:rPr lang="en-GB" sz="2000" dirty="0">
                <a:solidFill>
                  <a:schemeClr val="tx1"/>
                </a:solidFill>
                <a:latin typeface="Abadi" panose="020B0604020104020204" pitchFamily="34" charset="0"/>
              </a:rPr>
              <a:t>SpaceX advertises Falcon 9 rocket launches on its website with a cost of 62 million dollars; other providers cost upward of 165 million dollars each, much of the savings is because SpaceX can reuse the first stage. Therefore, if we can determine if the first stage will land, we can determine the cost of a launch. </a:t>
            </a:r>
            <a:endParaRPr lang="en-US" sz="2000" dirty="0">
              <a:solidFill>
                <a:schemeClr val="tx1"/>
              </a:solidFill>
              <a:latin typeface="Abadi" panose="020B0604020104020204" pitchFamily="34" charset="0"/>
            </a:endParaRPr>
          </a:p>
          <a:p>
            <a:pPr>
              <a:spcBef>
                <a:spcPts val="1400"/>
              </a:spcBef>
            </a:pPr>
            <a:r>
              <a:rPr lang="en-GB" sz="2400" dirty="0">
                <a:solidFill>
                  <a:schemeClr val="tx1"/>
                </a:solidFill>
                <a:latin typeface="Abadi" panose="020B0604020104020204" pitchFamily="34" charset="0"/>
              </a:rPr>
              <a:t>Objective:</a:t>
            </a:r>
          </a:p>
          <a:p>
            <a:pPr lvl="1">
              <a:spcBef>
                <a:spcPts val="1400"/>
              </a:spcBef>
            </a:pPr>
            <a:r>
              <a:rPr lang="en-GB" sz="2000" dirty="0">
                <a:solidFill>
                  <a:schemeClr val="tx1"/>
                </a:solidFill>
                <a:latin typeface="Abadi" panose="020B0604020104020204" pitchFamily="34" charset="0"/>
              </a:rPr>
              <a:t>Deliver your data-driven insights to determine if the first stage of Falcon 9 will land successfully.</a:t>
            </a:r>
            <a:endParaRPr lang="en-US" sz="2000" dirty="0">
              <a:solidFill>
                <a:schemeClr val="tx1"/>
              </a:solidFill>
              <a:latin typeface="Abadi" panose="020B0604020104020204" pitchFamily="34" charset="0"/>
            </a:endParaRPr>
          </a:p>
          <a:p>
            <a:pPr>
              <a:spcBef>
                <a:spcPts val="1400"/>
              </a:spcBef>
            </a:pPr>
            <a:endParaRPr lang="en-US" sz="2200" dirty="0">
              <a:solidFill>
                <a:schemeClr val="accent3">
                  <a:lumMod val="25000"/>
                </a:schemeClr>
              </a:solidFill>
              <a:latin typeface="Abadi" panose="020B0604020104020204" pitchFamily="34" charset="0"/>
            </a:endParaRP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fontScale="3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a:lnSpc>
                <a:spcPct val="120000"/>
              </a:lnSpc>
              <a:spcBef>
                <a:spcPts val="1400"/>
              </a:spcBef>
            </a:pPr>
            <a:r>
              <a:rPr lang="en-US" sz="8800" dirty="0">
                <a:solidFill>
                  <a:schemeClr val="accent3">
                    <a:lumMod val="25000"/>
                  </a:schemeClr>
                </a:solidFill>
                <a:latin typeface="Abadi"/>
              </a:rPr>
              <a:t>Data Collection</a:t>
            </a:r>
          </a:p>
          <a:p>
            <a:pPr>
              <a:lnSpc>
                <a:spcPct val="120000"/>
              </a:lnSpc>
              <a:spcBef>
                <a:spcPts val="1400"/>
              </a:spcBef>
            </a:pPr>
            <a:r>
              <a:rPr lang="en-US" sz="8800" dirty="0">
                <a:solidFill>
                  <a:schemeClr val="accent3">
                    <a:lumMod val="25000"/>
                  </a:schemeClr>
                </a:solidFill>
                <a:latin typeface="Abadi"/>
              </a:rPr>
              <a:t>Data Wrangling</a:t>
            </a:r>
          </a:p>
          <a:p>
            <a:pPr>
              <a:lnSpc>
                <a:spcPct val="120000"/>
              </a:lnSpc>
              <a:spcBef>
                <a:spcPts val="1400"/>
              </a:spcBef>
            </a:pPr>
            <a:r>
              <a:rPr lang="en-US" sz="8800" dirty="0">
                <a:solidFill>
                  <a:schemeClr val="accent3">
                    <a:lumMod val="25000"/>
                  </a:schemeClr>
                </a:solidFill>
                <a:latin typeface="Abadi"/>
              </a:rPr>
              <a:t>Exploratory Data Analysis (EDA) using visualization and SQL</a:t>
            </a:r>
          </a:p>
          <a:p>
            <a:pPr>
              <a:lnSpc>
                <a:spcPct val="120000"/>
              </a:lnSpc>
              <a:spcBef>
                <a:spcPts val="1400"/>
              </a:spcBef>
            </a:pPr>
            <a:r>
              <a:rPr lang="en-US" sz="8800" dirty="0">
                <a:solidFill>
                  <a:schemeClr val="accent3">
                    <a:lumMod val="25000"/>
                  </a:schemeClr>
                </a:solidFill>
                <a:latin typeface="Abadi"/>
              </a:rPr>
              <a:t>Interactive Visual Analytics using Folium and </a:t>
            </a:r>
            <a:r>
              <a:rPr lang="en-US" sz="8800" dirty="0" err="1">
                <a:solidFill>
                  <a:schemeClr val="accent3">
                    <a:lumMod val="25000"/>
                  </a:schemeClr>
                </a:solidFill>
                <a:latin typeface="Abadi"/>
              </a:rPr>
              <a:t>Plotly</a:t>
            </a:r>
            <a:r>
              <a:rPr lang="en-US" sz="8800" dirty="0">
                <a:solidFill>
                  <a:schemeClr val="accent3">
                    <a:lumMod val="25000"/>
                  </a:schemeClr>
                </a:solidFill>
                <a:latin typeface="Abadi"/>
              </a:rPr>
              <a:t> Dash</a:t>
            </a:r>
          </a:p>
          <a:p>
            <a:pPr>
              <a:lnSpc>
                <a:spcPct val="120000"/>
              </a:lnSpc>
              <a:spcBef>
                <a:spcPts val="1400"/>
              </a:spcBef>
            </a:pPr>
            <a:r>
              <a:rPr lang="en-US" sz="8800" dirty="0">
                <a:solidFill>
                  <a:schemeClr val="accent3">
                    <a:lumMod val="25000"/>
                  </a:schemeClr>
                </a:solidFill>
                <a:latin typeface="Abadi"/>
              </a:rPr>
              <a:t>Predictive Analysis using Classification Models</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10515600" cy="4351338"/>
          </a:xfrm>
          <a:prstGeom prst="rect">
            <a:avLst/>
          </a:prstGeom>
        </p:spPr>
        <p:txBody>
          <a:bodyPr/>
          <a:lstStyle/>
          <a:p>
            <a:pPr>
              <a:lnSpc>
                <a:spcPct val="100000"/>
              </a:lnSpc>
              <a:spcBef>
                <a:spcPts val="1400"/>
              </a:spcBef>
            </a:pPr>
            <a:r>
              <a:rPr lang="en-US" sz="2200" dirty="0">
                <a:latin typeface="Abadi" panose="020B0604020104020204" pitchFamily="34" charset="0"/>
              </a:rPr>
              <a:t>Requested rocket launch data from SpaceX API, parsed the table and converted it into a Pandas data frame (data_falcon9)</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latin typeface="Abadi" panose="020B0604020104020204" pitchFamily="34" charset="0"/>
              </a:rPr>
              <a:t>Extracted Falcon 9 launch records from HTML table in Wikipedia, parsed the table and converted it into a Pandas data frame (</a:t>
            </a:r>
            <a:r>
              <a:rPr lang="en-US" sz="2200" dirty="0" err="1">
                <a:latin typeface="Abadi" panose="020B0604020104020204" pitchFamily="34" charset="0"/>
              </a:rPr>
              <a:t>df</a:t>
            </a:r>
            <a:r>
              <a:rPr lang="en-US" sz="2200" dirty="0">
                <a:latin typeface="Abadi" panose="020B0604020104020204" pitchFamily="34" charset="0"/>
              </a:rPr>
              <a:t>)</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626400" y="1465501"/>
            <a:ext cx="4852698" cy="4225925"/>
          </a:xfrm>
          <a:prstGeom prst="rect">
            <a:avLst/>
          </a:prstGeom>
        </p:spPr>
        <p:txBody>
          <a:bodyPr vert="horz" lIns="91440" tIns="45720" rIns="91440" bIns="45720" rtlCol="0" anchor="t">
            <a:normAutofit/>
          </a:bodyPr>
          <a:lstStyle/>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GitHub URL: </a:t>
            </a:r>
            <a:r>
              <a:rPr lang="en-US" sz="2200" dirty="0">
                <a:hlinkClick r:id="rId3"/>
              </a:rPr>
              <a:t>README.md/</a:t>
            </a:r>
            <a:r>
              <a:rPr lang="en-US" sz="2200" dirty="0" err="1">
                <a:hlinkClick r:id="rId3"/>
              </a:rPr>
              <a:t>jupyter</a:t>
            </a:r>
            <a:r>
              <a:rPr lang="en-US" sz="2200" dirty="0">
                <a:hlinkClick r:id="rId3"/>
              </a:rPr>
              <a:t>-labs-</a:t>
            </a:r>
            <a:r>
              <a:rPr lang="en-US" sz="2200" dirty="0" err="1">
                <a:hlinkClick r:id="rId3"/>
              </a:rPr>
              <a:t>spacex</a:t>
            </a:r>
            <a:r>
              <a:rPr lang="en-US" sz="2200" dirty="0">
                <a:hlinkClick r:id="rId3"/>
              </a:rPr>
              <a:t>-data-collection-</a:t>
            </a:r>
            <a:r>
              <a:rPr lang="en-US" sz="2200" dirty="0" err="1">
                <a:hlinkClick r:id="rId3"/>
              </a:rPr>
              <a:t>api.ipynb</a:t>
            </a:r>
            <a:r>
              <a:rPr lang="en-US" sz="2200" dirty="0">
                <a:hlinkClick r:id="rId3"/>
              </a:rPr>
              <a:t> at main · DougBedore01/README.md</a:t>
            </a:r>
            <a:endParaRPr lang="en-US" sz="2200" dirty="0"/>
          </a:p>
          <a:p>
            <a:endParaRPr lang="en-US" dirty="0"/>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sp>
        <p:nvSpPr>
          <p:cNvPr id="7" name="Rectangle 6">
            <a:extLst>
              <a:ext uri="{FF2B5EF4-FFF2-40B4-BE49-F238E27FC236}">
                <a16:creationId xmlns:a16="http://schemas.microsoft.com/office/drawing/2014/main" id="{48FA2580-4877-4A87-31ED-3E92FBE19994}"/>
              </a:ext>
            </a:extLst>
          </p:cNvPr>
          <p:cNvSpPr/>
          <p:nvPr/>
        </p:nvSpPr>
        <p:spPr>
          <a:xfrm>
            <a:off x="5765943" y="2290198"/>
            <a:ext cx="1589809"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Load Initial Launch Data</a:t>
            </a:r>
          </a:p>
        </p:txBody>
      </p:sp>
      <p:sp>
        <p:nvSpPr>
          <p:cNvPr id="8" name="Flowchart: Data 7">
            <a:extLst>
              <a:ext uri="{FF2B5EF4-FFF2-40B4-BE49-F238E27FC236}">
                <a16:creationId xmlns:a16="http://schemas.microsoft.com/office/drawing/2014/main" id="{E1B14ECA-59FA-28E3-E365-604AEC839A27}"/>
              </a:ext>
            </a:extLst>
          </p:cNvPr>
          <p:cNvSpPr/>
          <p:nvPr/>
        </p:nvSpPr>
        <p:spPr>
          <a:xfrm>
            <a:off x="7905447" y="5344802"/>
            <a:ext cx="2277340" cy="693249"/>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Final Data</a:t>
            </a:r>
          </a:p>
        </p:txBody>
      </p:sp>
      <p:sp>
        <p:nvSpPr>
          <p:cNvPr id="9" name="Rectangle 8">
            <a:extLst>
              <a:ext uri="{FF2B5EF4-FFF2-40B4-BE49-F238E27FC236}">
                <a16:creationId xmlns:a16="http://schemas.microsoft.com/office/drawing/2014/main" id="{FC77D0B4-9CA9-E73B-8CC7-9A9F3F3D6CA0}"/>
              </a:ext>
            </a:extLst>
          </p:cNvPr>
          <p:cNvSpPr/>
          <p:nvPr/>
        </p:nvSpPr>
        <p:spPr>
          <a:xfrm>
            <a:off x="5765942" y="3383451"/>
            <a:ext cx="1589809"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Get Booster Version</a:t>
            </a:r>
          </a:p>
        </p:txBody>
      </p:sp>
      <p:sp>
        <p:nvSpPr>
          <p:cNvPr id="10" name="Rectangle 9">
            <a:extLst>
              <a:ext uri="{FF2B5EF4-FFF2-40B4-BE49-F238E27FC236}">
                <a16:creationId xmlns:a16="http://schemas.microsoft.com/office/drawing/2014/main" id="{31CE29FB-BD56-05B6-BD3B-94A416A92FAD}"/>
              </a:ext>
            </a:extLst>
          </p:cNvPr>
          <p:cNvSpPr/>
          <p:nvPr/>
        </p:nvSpPr>
        <p:spPr>
          <a:xfrm>
            <a:off x="7454308" y="3393766"/>
            <a:ext cx="1589809"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Get Launch Site Info</a:t>
            </a:r>
          </a:p>
        </p:txBody>
      </p:sp>
      <p:sp>
        <p:nvSpPr>
          <p:cNvPr id="11" name="Rectangle 10">
            <a:extLst>
              <a:ext uri="{FF2B5EF4-FFF2-40B4-BE49-F238E27FC236}">
                <a16:creationId xmlns:a16="http://schemas.microsoft.com/office/drawing/2014/main" id="{46852CBA-92ED-B3B7-D2D3-9C4AC095D841}"/>
              </a:ext>
            </a:extLst>
          </p:cNvPr>
          <p:cNvSpPr/>
          <p:nvPr/>
        </p:nvSpPr>
        <p:spPr>
          <a:xfrm>
            <a:off x="9136623" y="3388191"/>
            <a:ext cx="1589809"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Get Payload Data</a:t>
            </a:r>
          </a:p>
        </p:txBody>
      </p:sp>
      <p:sp>
        <p:nvSpPr>
          <p:cNvPr id="12" name="Rectangle 11">
            <a:extLst>
              <a:ext uri="{FF2B5EF4-FFF2-40B4-BE49-F238E27FC236}">
                <a16:creationId xmlns:a16="http://schemas.microsoft.com/office/drawing/2014/main" id="{C9A161BC-86AB-65E9-278D-77DE377D9F1A}"/>
              </a:ext>
            </a:extLst>
          </p:cNvPr>
          <p:cNvSpPr/>
          <p:nvPr/>
        </p:nvSpPr>
        <p:spPr>
          <a:xfrm>
            <a:off x="10832770" y="3383451"/>
            <a:ext cx="1250403" cy="550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Get Core Data</a:t>
            </a:r>
          </a:p>
        </p:txBody>
      </p:sp>
      <p:sp>
        <p:nvSpPr>
          <p:cNvPr id="13" name="Rectangle 12">
            <a:extLst>
              <a:ext uri="{FF2B5EF4-FFF2-40B4-BE49-F238E27FC236}">
                <a16:creationId xmlns:a16="http://schemas.microsoft.com/office/drawing/2014/main" id="{73EE7E14-90DF-7F07-DE44-20A9CDDBCE0B}"/>
              </a:ext>
            </a:extLst>
          </p:cNvPr>
          <p:cNvSpPr/>
          <p:nvPr/>
        </p:nvSpPr>
        <p:spPr>
          <a:xfrm>
            <a:off x="8374019" y="4192657"/>
            <a:ext cx="1589809" cy="8332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Combine All Data into Final </a:t>
            </a:r>
            <a:r>
              <a:rPr lang="en-US" dirty="0" err="1"/>
              <a:t>Dataframe</a:t>
            </a:r>
            <a:endParaRPr lang="en-US" dirty="0"/>
          </a:p>
        </p:txBody>
      </p:sp>
      <p:sp>
        <p:nvSpPr>
          <p:cNvPr id="14" name="Rectangle: Rounded Corners 13">
            <a:extLst>
              <a:ext uri="{FF2B5EF4-FFF2-40B4-BE49-F238E27FC236}">
                <a16:creationId xmlns:a16="http://schemas.microsoft.com/office/drawing/2014/main" id="{90102D9F-163F-5B0C-528F-EC6658DBECB6}"/>
              </a:ext>
            </a:extLst>
          </p:cNvPr>
          <p:cNvSpPr/>
          <p:nvPr/>
        </p:nvSpPr>
        <p:spPr>
          <a:xfrm>
            <a:off x="8152797" y="6231199"/>
            <a:ext cx="1589809" cy="540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a:t>
            </a:r>
          </a:p>
        </p:txBody>
      </p:sp>
      <p:cxnSp>
        <p:nvCxnSpPr>
          <p:cNvPr id="16" name="Connector: Elbow 15">
            <a:extLst>
              <a:ext uri="{FF2B5EF4-FFF2-40B4-BE49-F238E27FC236}">
                <a16:creationId xmlns:a16="http://schemas.microsoft.com/office/drawing/2014/main" id="{F140F072-8914-466E-9386-9C17F399DCA4}"/>
              </a:ext>
            </a:extLst>
          </p:cNvPr>
          <p:cNvCxnSpPr>
            <a:cxnSpLocks/>
            <a:stCxn id="49" idx="1"/>
            <a:endCxn id="7" idx="0"/>
          </p:cNvCxnSpPr>
          <p:nvPr/>
        </p:nvCxnSpPr>
        <p:spPr>
          <a:xfrm rot="10800000" flipV="1">
            <a:off x="6560849" y="1783362"/>
            <a:ext cx="1533669" cy="50683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C6F189A3-93A4-3FB9-412A-4EC7352D80C3}"/>
              </a:ext>
            </a:extLst>
          </p:cNvPr>
          <p:cNvCxnSpPr>
            <a:cxnSpLocks/>
            <a:stCxn id="7" idx="2"/>
            <a:endCxn id="9" idx="0"/>
          </p:cNvCxnSpPr>
          <p:nvPr/>
        </p:nvCxnSpPr>
        <p:spPr>
          <a:xfrm rot="5400000">
            <a:off x="6284386" y="3106988"/>
            <a:ext cx="552925" cy="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2CB1CD82-89FF-D1BE-FEA5-D4057C770DE7}"/>
              </a:ext>
            </a:extLst>
          </p:cNvPr>
          <p:cNvCxnSpPr>
            <a:cxnSpLocks/>
            <a:stCxn id="7" idx="2"/>
            <a:endCxn id="10" idx="0"/>
          </p:cNvCxnSpPr>
          <p:nvPr/>
        </p:nvCxnSpPr>
        <p:spPr>
          <a:xfrm rot="16200000" flipH="1">
            <a:off x="7123410" y="2267963"/>
            <a:ext cx="563240" cy="168836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E3FDAA2C-B721-9036-43D3-62C1C96FD521}"/>
              </a:ext>
            </a:extLst>
          </p:cNvPr>
          <p:cNvCxnSpPr>
            <a:cxnSpLocks/>
            <a:stCxn id="7" idx="2"/>
            <a:endCxn id="11" idx="0"/>
          </p:cNvCxnSpPr>
          <p:nvPr/>
        </p:nvCxnSpPr>
        <p:spPr>
          <a:xfrm rot="16200000" flipH="1">
            <a:off x="7967356" y="1424018"/>
            <a:ext cx="557665" cy="337068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C3CEF7B9-BFAB-0433-41E8-2A9FE90CDCAD}"/>
              </a:ext>
            </a:extLst>
          </p:cNvPr>
          <p:cNvCxnSpPr>
            <a:cxnSpLocks/>
            <a:stCxn id="7" idx="2"/>
            <a:endCxn id="12" idx="0"/>
          </p:cNvCxnSpPr>
          <p:nvPr/>
        </p:nvCxnSpPr>
        <p:spPr>
          <a:xfrm rot="16200000" flipH="1">
            <a:off x="8732948" y="658426"/>
            <a:ext cx="552925" cy="489712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50B7B418-E983-405E-7612-D84EFEEB0248}"/>
              </a:ext>
            </a:extLst>
          </p:cNvPr>
          <p:cNvCxnSpPr>
            <a:cxnSpLocks/>
            <a:stCxn id="9" idx="2"/>
            <a:endCxn id="13" idx="1"/>
          </p:cNvCxnSpPr>
          <p:nvPr/>
        </p:nvCxnSpPr>
        <p:spPr>
          <a:xfrm rot="16200000" flipH="1">
            <a:off x="7124678" y="3359948"/>
            <a:ext cx="685511" cy="181317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A35F8E7E-B5CC-63E5-6FE8-00D1A0AC87A9}"/>
              </a:ext>
            </a:extLst>
          </p:cNvPr>
          <p:cNvCxnSpPr>
            <a:cxnSpLocks/>
            <a:stCxn id="10" idx="2"/>
            <a:endCxn id="13" idx="0"/>
          </p:cNvCxnSpPr>
          <p:nvPr/>
        </p:nvCxnSpPr>
        <p:spPr>
          <a:xfrm rot="16200000" flipH="1">
            <a:off x="8579787" y="3603519"/>
            <a:ext cx="258563" cy="91971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8EEB5C91-31E9-14F3-E9A2-B28CDD9E81A4}"/>
              </a:ext>
            </a:extLst>
          </p:cNvPr>
          <p:cNvCxnSpPr>
            <a:cxnSpLocks/>
            <a:stCxn id="11" idx="2"/>
            <a:endCxn id="13" idx="0"/>
          </p:cNvCxnSpPr>
          <p:nvPr/>
        </p:nvCxnSpPr>
        <p:spPr>
          <a:xfrm rot="5400000">
            <a:off x="9418157" y="3679286"/>
            <a:ext cx="264138" cy="76260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54022141-B3FD-D30F-5F35-172CDBE19586}"/>
              </a:ext>
            </a:extLst>
          </p:cNvPr>
          <p:cNvCxnSpPr>
            <a:cxnSpLocks/>
            <a:endCxn id="13" idx="3"/>
          </p:cNvCxnSpPr>
          <p:nvPr/>
        </p:nvCxnSpPr>
        <p:spPr>
          <a:xfrm rot="10800000" flipV="1">
            <a:off x="9963829" y="3991028"/>
            <a:ext cx="1603045" cy="61826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B29C7BB8-8B68-3FEC-1045-90994C17EA11}"/>
              </a:ext>
            </a:extLst>
          </p:cNvPr>
          <p:cNvCxnSpPr>
            <a:cxnSpLocks/>
            <a:stCxn id="13" idx="2"/>
            <a:endCxn id="8" idx="0"/>
          </p:cNvCxnSpPr>
          <p:nvPr/>
        </p:nvCxnSpPr>
        <p:spPr>
          <a:xfrm rot="16200000" flipH="1">
            <a:off x="9060948" y="5133898"/>
            <a:ext cx="318879" cy="10292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8451AF27-6FEC-961A-01F0-4A7D05AB6986}"/>
              </a:ext>
            </a:extLst>
          </p:cNvPr>
          <p:cNvCxnSpPr>
            <a:cxnSpLocks/>
            <a:stCxn id="8" idx="4"/>
            <a:endCxn id="14" idx="0"/>
          </p:cNvCxnSpPr>
          <p:nvPr/>
        </p:nvCxnSpPr>
        <p:spPr>
          <a:xfrm rot="5400000">
            <a:off x="8899336" y="6086418"/>
            <a:ext cx="193148" cy="9641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CD062523-011F-A3D8-2CA1-427621A9A586}"/>
              </a:ext>
            </a:extLst>
          </p:cNvPr>
          <p:cNvSpPr/>
          <p:nvPr/>
        </p:nvSpPr>
        <p:spPr>
          <a:xfrm>
            <a:off x="8094517" y="1513199"/>
            <a:ext cx="1589809" cy="540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922411" y="1792288"/>
            <a:ext cx="4746870" cy="3811587"/>
          </a:xfrm>
          <a:prstGeom prst="rect">
            <a:avLst/>
          </a:prstGeom>
        </p:spPr>
        <p:txBody>
          <a:bodyPr lIns="91440" tIns="45720" rIns="91440" bIns="45720" anchor="t">
            <a:no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GitHub URL: </a:t>
            </a:r>
            <a:r>
              <a:rPr lang="en-US" sz="2200" dirty="0">
                <a:hlinkClick r:id="rId3"/>
              </a:rPr>
              <a:t>README.md/</a:t>
            </a:r>
            <a:r>
              <a:rPr lang="en-US" sz="2200" dirty="0" err="1">
                <a:hlinkClick r:id="rId3"/>
              </a:rPr>
              <a:t>jupyter</a:t>
            </a:r>
            <a:r>
              <a:rPr lang="en-US" sz="2200" dirty="0">
                <a:hlinkClick r:id="rId3"/>
              </a:rPr>
              <a:t>-labs-</a:t>
            </a:r>
            <a:r>
              <a:rPr lang="en-US" sz="2200" dirty="0" err="1">
                <a:hlinkClick r:id="rId3"/>
              </a:rPr>
              <a:t>webscraping.ipynb</a:t>
            </a:r>
            <a:r>
              <a:rPr lang="en-US" sz="2200" dirty="0">
                <a:hlinkClick r:id="rId3"/>
              </a:rPr>
              <a:t> at main · DougBedore01/README.md</a:t>
            </a: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23" name="Slide Number Placeholder 5">
            <a:extLst>
              <a:ext uri="{FF2B5EF4-FFF2-40B4-BE49-F238E27FC236}">
                <a16:creationId xmlns:a16="http://schemas.microsoft.com/office/drawing/2014/main" id="{A5F0FBB0-9604-4D83-2A6D-7795811160FD}"/>
              </a:ext>
            </a:extLst>
          </p:cNvPr>
          <p:cNvSpPr txBox="1">
            <a:spLocks/>
          </p:cNvSpPr>
          <p:nvPr/>
        </p:nvSpPr>
        <p:spPr>
          <a:xfrm>
            <a:off x="8714772" y="6025573"/>
            <a:ext cx="2743200" cy="401638"/>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rgbClr val="1C7DDB"/>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5537C-CA84-1446-933C-8E9D027F9201}" type="slidenum">
              <a:rPr lang="en-US" smtClean="0"/>
              <a:pPr/>
              <a:t>9</a:t>
            </a:fld>
            <a:endParaRPr lang="en-US"/>
          </a:p>
        </p:txBody>
      </p:sp>
      <p:sp>
        <p:nvSpPr>
          <p:cNvPr id="24" name="Flowchart: Data 23">
            <a:extLst>
              <a:ext uri="{FF2B5EF4-FFF2-40B4-BE49-F238E27FC236}">
                <a16:creationId xmlns:a16="http://schemas.microsoft.com/office/drawing/2014/main" id="{9CE1D3A8-39E1-A986-8756-3E753C9B32D0}"/>
              </a:ext>
            </a:extLst>
          </p:cNvPr>
          <p:cNvSpPr/>
          <p:nvPr/>
        </p:nvSpPr>
        <p:spPr>
          <a:xfrm>
            <a:off x="7905447" y="3155105"/>
            <a:ext cx="2277340" cy="693249"/>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Export Data</a:t>
            </a:r>
          </a:p>
        </p:txBody>
      </p:sp>
      <p:sp>
        <p:nvSpPr>
          <p:cNvPr id="25" name="Rectangle 24">
            <a:extLst>
              <a:ext uri="{FF2B5EF4-FFF2-40B4-BE49-F238E27FC236}">
                <a16:creationId xmlns:a16="http://schemas.microsoft.com/office/drawing/2014/main" id="{6F168863-5F52-2B19-A18F-1D3F7B870E8A}"/>
              </a:ext>
            </a:extLst>
          </p:cNvPr>
          <p:cNvSpPr/>
          <p:nvPr/>
        </p:nvSpPr>
        <p:spPr>
          <a:xfrm>
            <a:off x="5448513" y="3383451"/>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Parse HTML with </a:t>
            </a:r>
            <a:r>
              <a:rPr lang="en-US" dirty="0" err="1"/>
              <a:t>BeautifulSoup</a:t>
            </a:r>
            <a:endParaRPr lang="en-US" dirty="0"/>
          </a:p>
        </p:txBody>
      </p:sp>
      <p:sp>
        <p:nvSpPr>
          <p:cNvPr id="29" name="Rectangle: Rounded Corners 28">
            <a:extLst>
              <a:ext uri="{FF2B5EF4-FFF2-40B4-BE49-F238E27FC236}">
                <a16:creationId xmlns:a16="http://schemas.microsoft.com/office/drawing/2014/main" id="{641F5FE4-896E-57D7-3FA4-EE989B08D6B6}"/>
              </a:ext>
            </a:extLst>
          </p:cNvPr>
          <p:cNvSpPr/>
          <p:nvPr/>
        </p:nvSpPr>
        <p:spPr>
          <a:xfrm>
            <a:off x="10422833" y="3304831"/>
            <a:ext cx="1589809" cy="540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a:t>
            </a:r>
          </a:p>
        </p:txBody>
      </p:sp>
      <p:cxnSp>
        <p:nvCxnSpPr>
          <p:cNvPr id="30" name="Connector: Elbow 29">
            <a:extLst>
              <a:ext uri="{FF2B5EF4-FFF2-40B4-BE49-F238E27FC236}">
                <a16:creationId xmlns:a16="http://schemas.microsoft.com/office/drawing/2014/main" id="{1A3EC6DA-FB5C-262A-AEA8-70A69D3CE7E9}"/>
              </a:ext>
            </a:extLst>
          </p:cNvPr>
          <p:cNvCxnSpPr>
            <a:cxnSpLocks/>
            <a:stCxn id="41" idx="1"/>
          </p:cNvCxnSpPr>
          <p:nvPr/>
        </p:nvCxnSpPr>
        <p:spPr>
          <a:xfrm rot="10800000" flipV="1">
            <a:off x="6560849" y="1783362"/>
            <a:ext cx="1533669" cy="50683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4A5E17B5-A833-DE47-13C7-D7AE423DB184}"/>
              </a:ext>
            </a:extLst>
          </p:cNvPr>
          <p:cNvCxnSpPr>
            <a:cxnSpLocks/>
          </p:cNvCxnSpPr>
          <p:nvPr/>
        </p:nvCxnSpPr>
        <p:spPr>
          <a:xfrm rot="5400000">
            <a:off x="6284386" y="3106988"/>
            <a:ext cx="552925" cy="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3DB82429-D732-89DA-191F-A3B528FDBE3D}"/>
              </a:ext>
            </a:extLst>
          </p:cNvPr>
          <p:cNvSpPr/>
          <p:nvPr/>
        </p:nvSpPr>
        <p:spPr>
          <a:xfrm>
            <a:off x="8094517" y="1513199"/>
            <a:ext cx="1589809" cy="540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42" name="Rectangle 41">
            <a:extLst>
              <a:ext uri="{FF2B5EF4-FFF2-40B4-BE49-F238E27FC236}">
                <a16:creationId xmlns:a16="http://schemas.microsoft.com/office/drawing/2014/main" id="{F2A7387B-9B37-A396-C93C-CA8EBF9ED8A1}"/>
              </a:ext>
            </a:extLst>
          </p:cNvPr>
          <p:cNvSpPr/>
          <p:nvPr/>
        </p:nvSpPr>
        <p:spPr>
          <a:xfrm>
            <a:off x="5452404" y="2300513"/>
            <a:ext cx="2216889" cy="5300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Fetch HTML Page</a:t>
            </a:r>
          </a:p>
        </p:txBody>
      </p:sp>
      <p:sp>
        <p:nvSpPr>
          <p:cNvPr id="44" name="Rectangle 43">
            <a:extLst>
              <a:ext uri="{FF2B5EF4-FFF2-40B4-BE49-F238E27FC236}">
                <a16:creationId xmlns:a16="http://schemas.microsoft.com/office/drawing/2014/main" id="{3974F8C4-AEC3-4141-5FE3-45C462EB1A90}"/>
              </a:ext>
            </a:extLst>
          </p:cNvPr>
          <p:cNvSpPr/>
          <p:nvPr/>
        </p:nvSpPr>
        <p:spPr>
          <a:xfrm>
            <a:off x="5452405" y="4297851"/>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Locate Launch Data Table</a:t>
            </a:r>
          </a:p>
        </p:txBody>
      </p:sp>
      <p:sp>
        <p:nvSpPr>
          <p:cNvPr id="45" name="Rectangle 44">
            <a:extLst>
              <a:ext uri="{FF2B5EF4-FFF2-40B4-BE49-F238E27FC236}">
                <a16:creationId xmlns:a16="http://schemas.microsoft.com/office/drawing/2014/main" id="{E79F7518-1B8A-0940-9D4C-FFE3311C6B37}"/>
              </a:ext>
            </a:extLst>
          </p:cNvPr>
          <p:cNvSpPr/>
          <p:nvPr/>
        </p:nvSpPr>
        <p:spPr>
          <a:xfrm>
            <a:off x="5452405" y="5212251"/>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Extract &amp; Clean Table Headers</a:t>
            </a:r>
          </a:p>
        </p:txBody>
      </p:sp>
      <p:sp>
        <p:nvSpPr>
          <p:cNvPr id="46" name="Rectangle 45">
            <a:extLst>
              <a:ext uri="{FF2B5EF4-FFF2-40B4-BE49-F238E27FC236}">
                <a16:creationId xmlns:a16="http://schemas.microsoft.com/office/drawing/2014/main" id="{81E780A3-0ED5-5603-5BD7-DDB76E8D118E}"/>
              </a:ext>
            </a:extLst>
          </p:cNvPr>
          <p:cNvSpPr/>
          <p:nvPr/>
        </p:nvSpPr>
        <p:spPr>
          <a:xfrm>
            <a:off x="7821693" y="5212145"/>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Iterate Through Table Rows</a:t>
            </a:r>
          </a:p>
        </p:txBody>
      </p:sp>
      <p:sp>
        <p:nvSpPr>
          <p:cNvPr id="48" name="Rectangle 47">
            <a:extLst>
              <a:ext uri="{FF2B5EF4-FFF2-40B4-BE49-F238E27FC236}">
                <a16:creationId xmlns:a16="http://schemas.microsoft.com/office/drawing/2014/main" id="{090F914E-50D7-F9BC-9140-89E2238992FF}"/>
              </a:ext>
            </a:extLst>
          </p:cNvPr>
          <p:cNvSpPr/>
          <p:nvPr/>
        </p:nvSpPr>
        <p:spPr>
          <a:xfrm>
            <a:off x="7839258" y="4273712"/>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Build Pandas </a:t>
            </a:r>
            <a:r>
              <a:rPr lang="en-US" dirty="0" err="1"/>
              <a:t>DataFrame</a:t>
            </a:r>
            <a:endParaRPr lang="en-US" dirty="0"/>
          </a:p>
        </p:txBody>
      </p:sp>
      <p:cxnSp>
        <p:nvCxnSpPr>
          <p:cNvPr id="52" name="Connector: Elbow 51">
            <a:extLst>
              <a:ext uri="{FF2B5EF4-FFF2-40B4-BE49-F238E27FC236}">
                <a16:creationId xmlns:a16="http://schemas.microsoft.com/office/drawing/2014/main" id="{CBBBF93B-0387-6952-D35D-19B2347759F8}"/>
              </a:ext>
            </a:extLst>
          </p:cNvPr>
          <p:cNvCxnSpPr>
            <a:cxnSpLocks/>
            <a:stCxn id="25" idx="2"/>
            <a:endCxn id="44" idx="0"/>
          </p:cNvCxnSpPr>
          <p:nvPr/>
        </p:nvCxnSpPr>
        <p:spPr>
          <a:xfrm rot="16200000" flipH="1">
            <a:off x="6371867" y="4108869"/>
            <a:ext cx="374072" cy="389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E29CBC26-BF58-24A0-217F-4AEDC8CFE4D3}"/>
              </a:ext>
            </a:extLst>
          </p:cNvPr>
          <p:cNvCxnSpPr>
            <a:cxnSpLocks/>
            <a:stCxn id="44" idx="2"/>
            <a:endCxn id="45" idx="0"/>
          </p:cNvCxnSpPr>
          <p:nvPr/>
        </p:nvCxnSpPr>
        <p:spPr>
          <a:xfrm rot="5400000">
            <a:off x="6373813" y="5025215"/>
            <a:ext cx="374072" cy="127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E398ECD4-7034-B6C0-2A52-676A9B855341}"/>
              </a:ext>
            </a:extLst>
          </p:cNvPr>
          <p:cNvCxnSpPr>
            <a:stCxn id="45" idx="2"/>
            <a:endCxn id="46" idx="2"/>
          </p:cNvCxnSpPr>
          <p:nvPr/>
        </p:nvCxnSpPr>
        <p:spPr>
          <a:xfrm rot="5400000" flipH="1" flipV="1">
            <a:off x="7745440" y="4567882"/>
            <a:ext cx="106" cy="2369288"/>
          </a:xfrm>
          <a:prstGeom prst="bentConnector3">
            <a:avLst>
              <a:gd name="adj1" fmla="val -2156603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C8111120-9CF8-7E3F-6E4E-1338E44DEB9E}"/>
              </a:ext>
            </a:extLst>
          </p:cNvPr>
          <p:cNvCxnSpPr>
            <a:stCxn id="46" idx="0"/>
            <a:endCxn id="48" idx="2"/>
          </p:cNvCxnSpPr>
          <p:nvPr/>
        </p:nvCxnSpPr>
        <p:spPr>
          <a:xfrm rot="5400000" flipH="1" flipV="1">
            <a:off x="8739867" y="5004311"/>
            <a:ext cx="398105" cy="175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56242C4B-397A-B9C5-9BB6-FA1808F48EC8}"/>
              </a:ext>
            </a:extLst>
          </p:cNvPr>
          <p:cNvCxnSpPr>
            <a:stCxn id="48" idx="0"/>
            <a:endCxn id="24" idx="3"/>
          </p:cNvCxnSpPr>
          <p:nvPr/>
        </p:nvCxnSpPr>
        <p:spPr>
          <a:xfrm rot="16200000" flipV="1">
            <a:off x="8669364" y="3995373"/>
            <a:ext cx="425358" cy="13131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D1F2ABBE-AA77-F27C-CD3D-67C0B3EB5C4A}"/>
              </a:ext>
            </a:extLst>
          </p:cNvPr>
          <p:cNvCxnSpPr>
            <a:stCxn id="24" idx="5"/>
            <a:endCxn id="29" idx="1"/>
          </p:cNvCxnSpPr>
          <p:nvPr/>
        </p:nvCxnSpPr>
        <p:spPr>
          <a:xfrm>
            <a:off x="9955053" y="3501730"/>
            <a:ext cx="467780" cy="732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674234"/>
            <a:ext cx="6837680" cy="5072005"/>
          </a:xfrm>
          <a:prstGeom prst="rect">
            <a:avLst/>
          </a:prstGeom>
        </p:spPr>
        <p:txBody>
          <a:bodyPr/>
          <a:lstStyle/>
          <a:p>
            <a:pPr lvl="0"/>
            <a:r>
              <a:rPr lang="en-US" sz="2000" dirty="0"/>
              <a:t>Loading and Inspection: The dataset was loaded, and missing values were analyzed (e.g., 28.9% in </a:t>
            </a:r>
            <a:r>
              <a:rPr lang="en-US" sz="2000" dirty="0" err="1"/>
              <a:t>LandingPad</a:t>
            </a:r>
            <a:r>
              <a:rPr lang="en-US" sz="2000" dirty="0"/>
              <a:t>).</a:t>
            </a:r>
          </a:p>
          <a:p>
            <a:pPr lvl="0"/>
            <a:r>
              <a:rPr lang="en-US" sz="2000" dirty="0"/>
              <a:t>Data Exploration:</a:t>
            </a:r>
          </a:p>
          <a:p>
            <a:pPr lvl="1"/>
            <a:r>
              <a:rPr lang="en-US" sz="1800" dirty="0"/>
              <a:t>Launch sites (CCAFS SLC 40 had the most launches) and orbits (GTO was most frequent) were summarized.</a:t>
            </a:r>
          </a:p>
          <a:p>
            <a:pPr lvl="1"/>
            <a:r>
              <a:rPr lang="en-US" sz="1800" dirty="0"/>
              <a:t>Outcomes like True ASDS (successful drone ship landings) were counted.</a:t>
            </a:r>
          </a:p>
          <a:p>
            <a:pPr lvl="0"/>
            <a:r>
              <a:rPr lang="en-US" sz="2000" dirty="0"/>
              <a:t>Label Creation: A binary Class column was added (1 for success, 0 for failures like False Ocean).</a:t>
            </a:r>
          </a:p>
          <a:p>
            <a:pPr lvl="0"/>
            <a:r>
              <a:rPr lang="en-US" sz="2000" dirty="0"/>
              <a:t>Success Rate: The mean of Class gave the landing success rate.</a:t>
            </a:r>
          </a:p>
          <a:p>
            <a:pPr lvl="0"/>
            <a:r>
              <a:rPr lang="en-US" sz="2000" dirty="0"/>
              <a:t>Export: Cleaned data was saved to dataset_part_2.csv for further analysis.</a:t>
            </a:r>
          </a:p>
          <a:p>
            <a:r>
              <a:rPr lang="en-US" sz="2200" dirty="0">
                <a:solidFill>
                  <a:schemeClr val="accent3">
                    <a:lumMod val="25000"/>
                  </a:schemeClr>
                </a:solidFill>
              </a:rPr>
              <a:t>GitHub URL: </a:t>
            </a:r>
            <a:r>
              <a:rPr lang="en-US" sz="2200" dirty="0">
                <a:hlinkClick r:id="rId3"/>
              </a:rPr>
              <a:t>README.md/labs-</a:t>
            </a:r>
            <a:r>
              <a:rPr lang="en-US" sz="2200" dirty="0" err="1">
                <a:hlinkClick r:id="rId3"/>
              </a:rPr>
              <a:t>jupyter</a:t>
            </a:r>
            <a:r>
              <a:rPr lang="en-US" sz="2200" dirty="0">
                <a:hlinkClick r:id="rId3"/>
              </a:rPr>
              <a:t>-</a:t>
            </a:r>
            <a:r>
              <a:rPr lang="en-US" sz="2200" dirty="0" err="1">
                <a:hlinkClick r:id="rId3"/>
              </a:rPr>
              <a:t>spacex</a:t>
            </a:r>
            <a:r>
              <a:rPr lang="en-US" sz="2200" dirty="0">
                <a:hlinkClick r:id="rId3"/>
              </a:rPr>
              <a:t>-Data </a:t>
            </a:r>
            <a:r>
              <a:rPr lang="en-US" sz="2200" dirty="0" err="1">
                <a:hlinkClick r:id="rId3"/>
              </a:rPr>
              <a:t>wrangling.ipynb</a:t>
            </a:r>
            <a:r>
              <a:rPr lang="en-US" sz="2200" dirty="0">
                <a:hlinkClick r:id="rId3"/>
              </a:rPr>
              <a:t> at main · DougBedore01/README.md</a:t>
            </a:r>
            <a:endParaRPr lang="en-US" sz="2200" dirty="0"/>
          </a:p>
          <a:p>
            <a:endParaRPr lang="en-US" dirty="0"/>
          </a:p>
          <a:p>
            <a:endParaRPr lang="en-US" dirty="0"/>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cxnSp>
        <p:nvCxnSpPr>
          <p:cNvPr id="18" name="Connector: Elbow 17">
            <a:extLst>
              <a:ext uri="{FF2B5EF4-FFF2-40B4-BE49-F238E27FC236}">
                <a16:creationId xmlns:a16="http://schemas.microsoft.com/office/drawing/2014/main" id="{3A8E19FC-5438-1AFC-5134-F52D50D37D43}"/>
              </a:ext>
            </a:extLst>
          </p:cNvPr>
          <p:cNvCxnSpPr>
            <a:cxnSpLocks/>
            <a:endCxn id="28" idx="0"/>
          </p:cNvCxnSpPr>
          <p:nvPr/>
        </p:nvCxnSpPr>
        <p:spPr>
          <a:xfrm rot="10800000" flipV="1">
            <a:off x="7839260" y="1783360"/>
            <a:ext cx="1396996" cy="5068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ECA5AE92-F11D-922A-9448-C17D1AA74882}"/>
              </a:ext>
            </a:extLst>
          </p:cNvPr>
          <p:cNvSpPr/>
          <p:nvPr/>
        </p:nvSpPr>
        <p:spPr>
          <a:xfrm>
            <a:off x="8947703" y="1492961"/>
            <a:ext cx="1589809" cy="540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21" name="Rectangle 20">
            <a:extLst>
              <a:ext uri="{FF2B5EF4-FFF2-40B4-BE49-F238E27FC236}">
                <a16:creationId xmlns:a16="http://schemas.microsoft.com/office/drawing/2014/main" id="{EB69A450-362F-0F25-7371-1A37E5EB2510}"/>
              </a:ext>
            </a:extLst>
          </p:cNvPr>
          <p:cNvSpPr/>
          <p:nvPr/>
        </p:nvSpPr>
        <p:spPr>
          <a:xfrm>
            <a:off x="9429068" y="5518739"/>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Export Cleaned Data</a:t>
            </a:r>
          </a:p>
        </p:txBody>
      </p:sp>
      <p:cxnSp>
        <p:nvCxnSpPr>
          <p:cNvPr id="25" name="Connector: Elbow 24">
            <a:extLst>
              <a:ext uri="{FF2B5EF4-FFF2-40B4-BE49-F238E27FC236}">
                <a16:creationId xmlns:a16="http://schemas.microsoft.com/office/drawing/2014/main" id="{AF5B8FFE-A0EF-022D-35A3-8677D251CAFF}"/>
              </a:ext>
            </a:extLst>
          </p:cNvPr>
          <p:cNvCxnSpPr>
            <a:endCxn id="21" idx="2"/>
          </p:cNvCxnSpPr>
          <p:nvPr/>
        </p:nvCxnSpPr>
        <p:spPr>
          <a:xfrm rot="5400000" flipH="1" flipV="1">
            <a:off x="9352815" y="4874476"/>
            <a:ext cx="106" cy="2369288"/>
          </a:xfrm>
          <a:prstGeom prst="bentConnector3">
            <a:avLst>
              <a:gd name="adj1" fmla="val -2156603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4EE59EF7-7A00-B3E1-4B7E-BE4F5BF69801}"/>
              </a:ext>
            </a:extLst>
          </p:cNvPr>
          <p:cNvCxnSpPr>
            <a:cxnSpLocks/>
            <a:stCxn id="21" idx="0"/>
            <a:endCxn id="39" idx="2"/>
          </p:cNvCxnSpPr>
          <p:nvPr/>
        </p:nvCxnSpPr>
        <p:spPr>
          <a:xfrm rot="5400000" flipH="1" flipV="1">
            <a:off x="10447604" y="5085067"/>
            <a:ext cx="523581" cy="3437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DB4C476D-9AF5-34E2-2B25-B22EB292E41C}"/>
              </a:ext>
            </a:extLst>
          </p:cNvPr>
          <p:cNvSpPr/>
          <p:nvPr/>
        </p:nvSpPr>
        <p:spPr>
          <a:xfrm>
            <a:off x="6730816" y="2290198"/>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Load Data</a:t>
            </a:r>
          </a:p>
        </p:txBody>
      </p:sp>
      <p:sp>
        <p:nvSpPr>
          <p:cNvPr id="30" name="Rectangle 29">
            <a:extLst>
              <a:ext uri="{FF2B5EF4-FFF2-40B4-BE49-F238E27FC236}">
                <a16:creationId xmlns:a16="http://schemas.microsoft.com/office/drawing/2014/main" id="{0FA16409-F743-F85B-3A62-206A1A78D337}"/>
              </a:ext>
            </a:extLst>
          </p:cNvPr>
          <p:cNvSpPr/>
          <p:nvPr/>
        </p:nvSpPr>
        <p:spPr>
          <a:xfrm>
            <a:off x="6730815" y="3114197"/>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Identify Data Types</a:t>
            </a:r>
          </a:p>
        </p:txBody>
      </p:sp>
      <p:sp>
        <p:nvSpPr>
          <p:cNvPr id="31" name="Rectangle 30">
            <a:extLst>
              <a:ext uri="{FF2B5EF4-FFF2-40B4-BE49-F238E27FC236}">
                <a16:creationId xmlns:a16="http://schemas.microsoft.com/office/drawing/2014/main" id="{D3726B77-C223-09AB-3EDB-DE987130E19E}"/>
              </a:ext>
            </a:extLst>
          </p:cNvPr>
          <p:cNvSpPr/>
          <p:nvPr/>
        </p:nvSpPr>
        <p:spPr>
          <a:xfrm>
            <a:off x="6730815" y="3971321"/>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Exploratory Data Analysis</a:t>
            </a:r>
          </a:p>
        </p:txBody>
      </p:sp>
      <p:sp>
        <p:nvSpPr>
          <p:cNvPr id="34" name="Rectangle 33">
            <a:extLst>
              <a:ext uri="{FF2B5EF4-FFF2-40B4-BE49-F238E27FC236}">
                <a16:creationId xmlns:a16="http://schemas.microsoft.com/office/drawing/2014/main" id="{92C75D1D-BFB8-D71A-6476-E8229D0E459A}"/>
              </a:ext>
            </a:extLst>
          </p:cNvPr>
          <p:cNvSpPr/>
          <p:nvPr/>
        </p:nvSpPr>
        <p:spPr>
          <a:xfrm>
            <a:off x="6730815" y="4770651"/>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Create Binary Label</a:t>
            </a:r>
          </a:p>
        </p:txBody>
      </p:sp>
      <p:sp>
        <p:nvSpPr>
          <p:cNvPr id="36" name="Rectangle 35">
            <a:extLst>
              <a:ext uri="{FF2B5EF4-FFF2-40B4-BE49-F238E27FC236}">
                <a16:creationId xmlns:a16="http://schemas.microsoft.com/office/drawing/2014/main" id="{5D8FFC23-DC42-D3D1-7EB4-8C44A9CCC826}"/>
              </a:ext>
            </a:extLst>
          </p:cNvPr>
          <p:cNvSpPr/>
          <p:nvPr/>
        </p:nvSpPr>
        <p:spPr>
          <a:xfrm>
            <a:off x="6730815" y="5570087"/>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Create Success Rate</a:t>
            </a:r>
          </a:p>
        </p:txBody>
      </p:sp>
      <p:sp>
        <p:nvSpPr>
          <p:cNvPr id="39" name="Rectangle: Rounded Corners 38">
            <a:extLst>
              <a:ext uri="{FF2B5EF4-FFF2-40B4-BE49-F238E27FC236}">
                <a16:creationId xmlns:a16="http://schemas.microsoft.com/office/drawing/2014/main" id="{AB2FC982-CC05-2DE5-CC9B-D9311EBC0481}"/>
              </a:ext>
            </a:extLst>
          </p:cNvPr>
          <p:cNvSpPr/>
          <p:nvPr/>
        </p:nvSpPr>
        <p:spPr>
          <a:xfrm>
            <a:off x="10086372" y="4454830"/>
            <a:ext cx="1589809" cy="540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a:t>
            </a:r>
          </a:p>
        </p:txBody>
      </p:sp>
      <p:cxnSp>
        <p:nvCxnSpPr>
          <p:cNvPr id="43" name="Connector: Elbow 42">
            <a:extLst>
              <a:ext uri="{FF2B5EF4-FFF2-40B4-BE49-F238E27FC236}">
                <a16:creationId xmlns:a16="http://schemas.microsoft.com/office/drawing/2014/main" id="{0C3A827A-EF5F-037B-BF18-6EA08E524C3D}"/>
              </a:ext>
            </a:extLst>
          </p:cNvPr>
          <p:cNvCxnSpPr>
            <a:stCxn id="28" idx="2"/>
            <a:endCxn id="30" idx="0"/>
          </p:cNvCxnSpPr>
          <p:nvPr/>
        </p:nvCxnSpPr>
        <p:spPr>
          <a:xfrm rot="5400000">
            <a:off x="7697425" y="2972361"/>
            <a:ext cx="283671"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C7312C18-8F9C-F187-8D94-EE97DF7802C9}"/>
              </a:ext>
            </a:extLst>
          </p:cNvPr>
          <p:cNvCxnSpPr>
            <a:cxnSpLocks/>
            <a:stCxn id="30" idx="2"/>
            <a:endCxn id="31" idx="0"/>
          </p:cNvCxnSpPr>
          <p:nvPr/>
        </p:nvCxnSpPr>
        <p:spPr>
          <a:xfrm rot="5400000">
            <a:off x="7680861" y="3812923"/>
            <a:ext cx="316796"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9EC0035A-10A6-16E0-5849-99662C0C8EF5}"/>
              </a:ext>
            </a:extLst>
          </p:cNvPr>
          <p:cNvCxnSpPr>
            <a:stCxn id="31" idx="2"/>
            <a:endCxn id="34" idx="0"/>
          </p:cNvCxnSpPr>
          <p:nvPr/>
        </p:nvCxnSpPr>
        <p:spPr>
          <a:xfrm rot="5400000">
            <a:off x="7709758" y="4641150"/>
            <a:ext cx="259002"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0" y="1339404"/>
            <a:ext cx="11694017" cy="7250804"/>
          </a:xfrm>
          <a:prstGeom prst="rect">
            <a:avLst/>
          </a:prstGeom>
        </p:spPr>
        <p:txBody>
          <a:bodyPr lIns="91440" tIns="45720" rIns="91440" bIns="45720" anchor="t"/>
          <a:lstStyle/>
          <a:p>
            <a:pPr marL="0" indent="0">
              <a:lnSpc>
                <a:spcPct val="100000"/>
              </a:lnSpc>
              <a:spcBef>
                <a:spcPts val="1400"/>
              </a:spcBef>
              <a:buNone/>
            </a:pPr>
            <a:r>
              <a:rPr lang="en-US" sz="1600" dirty="0">
                <a:solidFill>
                  <a:schemeClr val="accent3">
                    <a:lumMod val="25000"/>
                  </a:schemeClr>
                </a:solidFill>
                <a:latin typeface="Abadi" panose="020B0604020104020204" pitchFamily="34" charset="0"/>
              </a:rPr>
              <a:t>1. Payload Mass vs Flight Number</a:t>
            </a:r>
          </a:p>
          <a:p>
            <a:pPr lvl="1">
              <a:lnSpc>
                <a:spcPct val="100000"/>
              </a:lnSpc>
              <a:spcBef>
                <a:spcPts val="1400"/>
              </a:spcBef>
            </a:pPr>
            <a:r>
              <a:rPr lang="en-US" sz="1200" dirty="0">
                <a:solidFill>
                  <a:schemeClr val="accent3">
                    <a:lumMod val="25000"/>
                  </a:schemeClr>
                </a:solidFill>
                <a:latin typeface="Abadi" panose="020B0604020104020204" pitchFamily="34" charset="0"/>
              </a:rPr>
              <a:t>Chart type: Categorical scatter plot</a:t>
            </a:r>
          </a:p>
          <a:p>
            <a:pPr lvl="1">
              <a:lnSpc>
                <a:spcPct val="100000"/>
              </a:lnSpc>
              <a:spcBef>
                <a:spcPts val="1400"/>
              </a:spcBef>
            </a:pPr>
            <a:r>
              <a:rPr lang="en-US" sz="1200" dirty="0">
                <a:solidFill>
                  <a:schemeClr val="accent3">
                    <a:lumMod val="25000"/>
                  </a:schemeClr>
                </a:solidFill>
                <a:latin typeface="Abadi" panose="020B0604020104020204" pitchFamily="34" charset="0"/>
              </a:rPr>
              <a:t>Purpose: To analyze how payload mass and flight number relate to mission success.</a:t>
            </a: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r>
              <a:rPr lang="en-US" sz="1600" dirty="0">
                <a:solidFill>
                  <a:schemeClr val="accent3">
                    <a:lumMod val="25000"/>
                  </a:schemeClr>
                </a:solidFill>
                <a:latin typeface="Abadi" panose="020B0604020104020204" pitchFamily="34" charset="0"/>
              </a:rPr>
              <a:t>2. Launch Site vs Flight Number</a:t>
            </a:r>
          </a:p>
          <a:p>
            <a:pPr lvl="1">
              <a:lnSpc>
                <a:spcPct val="100000"/>
              </a:lnSpc>
              <a:spcBef>
                <a:spcPts val="1400"/>
              </a:spcBef>
            </a:pPr>
            <a:r>
              <a:rPr lang="en-US" sz="1200" dirty="0">
                <a:solidFill>
                  <a:schemeClr val="accent3">
                    <a:lumMod val="25000"/>
                  </a:schemeClr>
                </a:solidFill>
                <a:latin typeface="Abadi" panose="020B0604020104020204" pitchFamily="34" charset="0"/>
              </a:rPr>
              <a:t>Chart type: Categorical scatter plot</a:t>
            </a:r>
          </a:p>
          <a:p>
            <a:pPr lvl="1">
              <a:lnSpc>
                <a:spcPct val="100000"/>
              </a:lnSpc>
              <a:spcBef>
                <a:spcPts val="1400"/>
              </a:spcBef>
            </a:pPr>
            <a:r>
              <a:rPr lang="en-US" sz="1200" dirty="0">
                <a:solidFill>
                  <a:schemeClr val="accent3">
                    <a:lumMod val="25000"/>
                  </a:schemeClr>
                </a:solidFill>
                <a:latin typeface="Abadi" panose="020B0604020104020204" pitchFamily="34" charset="0"/>
              </a:rPr>
              <a:t>Purpose: To analyze how different launch sites perform over time and identify trends or consistency in success rates.</a:t>
            </a: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r>
              <a:rPr lang="en-US" sz="1600" dirty="0">
                <a:solidFill>
                  <a:schemeClr val="accent3">
                    <a:lumMod val="25000"/>
                  </a:schemeClr>
                </a:solidFill>
                <a:latin typeface="Abadi" panose="020B0604020104020204" pitchFamily="34" charset="0"/>
              </a:rPr>
              <a:t>3. Launch Site vs Payload Mass</a:t>
            </a:r>
          </a:p>
          <a:p>
            <a:pPr lvl="1">
              <a:lnSpc>
                <a:spcPct val="100000"/>
              </a:lnSpc>
              <a:spcBef>
                <a:spcPts val="1400"/>
              </a:spcBef>
            </a:pPr>
            <a:r>
              <a:rPr lang="en-US" sz="1200" dirty="0">
                <a:solidFill>
                  <a:schemeClr val="accent3">
                    <a:lumMod val="25000"/>
                  </a:schemeClr>
                </a:solidFill>
                <a:latin typeface="Abadi" panose="020B0604020104020204" pitchFamily="34" charset="0"/>
              </a:rPr>
              <a:t>Chart type: Categorical scatter plot</a:t>
            </a:r>
          </a:p>
          <a:p>
            <a:pPr lvl="1">
              <a:lnSpc>
                <a:spcPct val="100000"/>
              </a:lnSpc>
              <a:spcBef>
                <a:spcPts val="1400"/>
              </a:spcBef>
            </a:pPr>
            <a:r>
              <a:rPr lang="en-US" sz="1200" dirty="0">
                <a:solidFill>
                  <a:schemeClr val="accent3">
                    <a:lumMod val="25000"/>
                  </a:schemeClr>
                </a:solidFill>
                <a:latin typeface="Abadi" panose="020B0604020104020204" pitchFamily="34" charset="0"/>
              </a:rPr>
              <a:t>Purpose: </a:t>
            </a:r>
            <a:r>
              <a:rPr lang="en-GB" sz="1200" dirty="0"/>
              <a:t>To explore if payload mass impacts success differently across launch sites.</a:t>
            </a: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r>
              <a:rPr lang="en-US" sz="1600" dirty="0">
                <a:solidFill>
                  <a:schemeClr val="accent3">
                    <a:lumMod val="25000"/>
                  </a:schemeClr>
                </a:solidFill>
                <a:latin typeface="Abadi" panose="020B0604020104020204" pitchFamily="34" charset="0"/>
              </a:rPr>
              <a:t>4. Orbit Type vs Success Rate</a:t>
            </a:r>
          </a:p>
          <a:p>
            <a:pPr lvl="1">
              <a:lnSpc>
                <a:spcPct val="100000"/>
              </a:lnSpc>
              <a:spcBef>
                <a:spcPts val="1400"/>
              </a:spcBef>
            </a:pPr>
            <a:r>
              <a:rPr lang="en-US" sz="1200" dirty="0">
                <a:solidFill>
                  <a:schemeClr val="accent3">
                    <a:lumMod val="25000"/>
                  </a:schemeClr>
                </a:solidFill>
                <a:latin typeface="Abadi" panose="020B0604020104020204" pitchFamily="34" charset="0"/>
              </a:rPr>
              <a:t>Chart type: Bar Plot</a:t>
            </a:r>
          </a:p>
          <a:p>
            <a:pPr lvl="1">
              <a:lnSpc>
                <a:spcPct val="100000"/>
              </a:lnSpc>
              <a:spcBef>
                <a:spcPts val="1400"/>
              </a:spcBef>
            </a:pPr>
            <a:r>
              <a:rPr lang="en-US" sz="1200" dirty="0">
                <a:solidFill>
                  <a:schemeClr val="accent3">
                    <a:lumMod val="25000"/>
                  </a:schemeClr>
                </a:solidFill>
                <a:latin typeface="Abadi" panose="020B0604020104020204" pitchFamily="34" charset="0"/>
              </a:rPr>
              <a:t>Purpose: </a:t>
            </a:r>
            <a:r>
              <a:rPr lang="en-GB" sz="1200" dirty="0"/>
              <a:t>To visualize and compare success rates across different orbit types.</a:t>
            </a:r>
            <a:endParaRPr lang="en-US" sz="16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D73CE-A2E7-4755-C338-A7FB16DDDEA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0D8B7F-3E99-7843-8E02-4F133F1B0461}"/>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941FF265-2E6E-F2B2-9B0C-5676C1C8CFCE}"/>
              </a:ext>
            </a:extLst>
          </p:cNvPr>
          <p:cNvSpPr>
            <a:spLocks noGrp="1"/>
          </p:cNvSpPr>
          <p:nvPr>
            <p:ph idx="4294967295"/>
          </p:nvPr>
        </p:nvSpPr>
        <p:spPr>
          <a:xfrm>
            <a:off x="0" y="1339404"/>
            <a:ext cx="11694017" cy="7250804"/>
          </a:xfrm>
          <a:prstGeom prst="rect">
            <a:avLst/>
          </a:prstGeom>
        </p:spPr>
        <p:txBody>
          <a:bodyPr lIns="91440" tIns="45720" rIns="91440" bIns="45720" anchor="t"/>
          <a:lstStyle/>
          <a:p>
            <a:pPr marL="0" indent="0">
              <a:lnSpc>
                <a:spcPct val="100000"/>
              </a:lnSpc>
              <a:spcBef>
                <a:spcPts val="1400"/>
              </a:spcBef>
              <a:buNone/>
            </a:pPr>
            <a:r>
              <a:rPr lang="en-GB" sz="1600" dirty="0">
                <a:latin typeface="Abadi" panose="020B0604020104020204" pitchFamily="34" charset="0"/>
              </a:rPr>
              <a:t>5. Orbit vs Flight Number</a:t>
            </a:r>
          </a:p>
          <a:p>
            <a:pPr lvl="1">
              <a:lnSpc>
                <a:spcPct val="100000"/>
              </a:lnSpc>
              <a:spcBef>
                <a:spcPts val="1400"/>
              </a:spcBef>
            </a:pPr>
            <a:r>
              <a:rPr lang="en-US" sz="1200" dirty="0">
                <a:solidFill>
                  <a:schemeClr val="accent3">
                    <a:lumMod val="25000"/>
                  </a:schemeClr>
                </a:solidFill>
                <a:latin typeface="Abadi" panose="020B0604020104020204" pitchFamily="34" charset="0"/>
              </a:rPr>
              <a:t>Chart type: Categorical scatter plot</a:t>
            </a:r>
          </a:p>
          <a:p>
            <a:pPr lvl="1">
              <a:lnSpc>
                <a:spcPct val="100000"/>
              </a:lnSpc>
              <a:spcBef>
                <a:spcPts val="1400"/>
              </a:spcBef>
            </a:pPr>
            <a:r>
              <a:rPr lang="en-US" sz="1200" dirty="0">
                <a:solidFill>
                  <a:schemeClr val="accent3">
                    <a:lumMod val="25000"/>
                  </a:schemeClr>
                </a:solidFill>
                <a:latin typeface="Abadi" panose="020B0604020104020204" pitchFamily="34" charset="0"/>
              </a:rPr>
              <a:t>Purpose: </a:t>
            </a:r>
            <a:r>
              <a:rPr lang="en-GB" sz="1200" dirty="0"/>
              <a:t>To detect changes or patterns in orbit usage and success over time.</a:t>
            </a: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r>
              <a:rPr lang="en-US" sz="1600" dirty="0">
                <a:solidFill>
                  <a:schemeClr val="accent3">
                    <a:lumMod val="25000"/>
                  </a:schemeClr>
                </a:solidFill>
                <a:latin typeface="Abadi" panose="020B0604020104020204" pitchFamily="34" charset="0"/>
              </a:rPr>
              <a:t>2. Orbit vs Payload Mass</a:t>
            </a:r>
          </a:p>
          <a:p>
            <a:pPr lvl="1">
              <a:lnSpc>
                <a:spcPct val="100000"/>
              </a:lnSpc>
              <a:spcBef>
                <a:spcPts val="1400"/>
              </a:spcBef>
            </a:pPr>
            <a:r>
              <a:rPr lang="en-US" sz="1200" dirty="0">
                <a:solidFill>
                  <a:schemeClr val="accent3">
                    <a:lumMod val="25000"/>
                  </a:schemeClr>
                </a:solidFill>
                <a:latin typeface="Abadi" panose="020B0604020104020204" pitchFamily="34" charset="0"/>
              </a:rPr>
              <a:t>Chart type: Categorical scatter plot</a:t>
            </a:r>
          </a:p>
          <a:p>
            <a:pPr lvl="1">
              <a:lnSpc>
                <a:spcPct val="100000"/>
              </a:lnSpc>
              <a:spcBef>
                <a:spcPts val="1400"/>
              </a:spcBef>
            </a:pPr>
            <a:r>
              <a:rPr lang="en-US" sz="1200" dirty="0">
                <a:solidFill>
                  <a:schemeClr val="accent3">
                    <a:lumMod val="25000"/>
                  </a:schemeClr>
                </a:solidFill>
                <a:latin typeface="Abadi" panose="020B0604020104020204" pitchFamily="34" charset="0"/>
              </a:rPr>
              <a:t>Purpose: </a:t>
            </a:r>
            <a:r>
              <a:rPr lang="en-GB" sz="1200" dirty="0"/>
              <a:t>To analyse the relationship between payload size and orbit success</a:t>
            </a:r>
            <a:r>
              <a:rPr lang="en-US" sz="1200" dirty="0">
                <a:solidFill>
                  <a:schemeClr val="accent3">
                    <a:lumMod val="25000"/>
                  </a:schemeClr>
                </a:solidFill>
                <a:latin typeface="Abadi" panose="020B0604020104020204" pitchFamily="34" charset="0"/>
              </a:rPr>
              <a:t>.</a:t>
            </a:r>
          </a:p>
          <a:p>
            <a:pPr lvl="1">
              <a:lnSpc>
                <a:spcPct val="100000"/>
              </a:lnSpc>
              <a:spcBef>
                <a:spcPts val="1400"/>
              </a:spcBef>
            </a:pPr>
            <a:endParaRPr lang="en-US" sz="1200" dirty="0">
              <a:solidFill>
                <a:schemeClr val="accent3">
                  <a:lumMod val="25000"/>
                </a:schemeClr>
              </a:solidFill>
              <a:latin typeface="Abadi" panose="020B0604020104020204" pitchFamily="34" charset="0"/>
            </a:endParaRPr>
          </a:p>
          <a:p>
            <a:pPr lvl="1">
              <a:lnSpc>
                <a:spcPct val="100000"/>
              </a:lnSpc>
              <a:spcBef>
                <a:spcPts val="1400"/>
              </a:spcBef>
            </a:pPr>
            <a:endParaRPr lang="en-US" sz="1600" dirty="0">
              <a:solidFill>
                <a:schemeClr val="accent3">
                  <a:lumMod val="25000"/>
                </a:schemeClr>
              </a:solidFill>
              <a:latin typeface="Abadi" panose="020B0604020104020204" pitchFamily="34" charset="0"/>
            </a:endParaRPr>
          </a:p>
          <a:p>
            <a:r>
              <a:rPr lang="en-US" sz="1800" dirty="0">
                <a:solidFill>
                  <a:schemeClr val="accent3">
                    <a:lumMod val="25000"/>
                  </a:schemeClr>
                </a:solidFill>
                <a:latin typeface="Abadi" panose="020B0604020104020204" pitchFamily="34" charset="0"/>
              </a:rPr>
              <a:t>GitHub URL: </a:t>
            </a:r>
            <a:r>
              <a:rPr lang="en-US" sz="1800" dirty="0">
                <a:hlinkClick r:id="rId2"/>
              </a:rPr>
              <a:t>README.md/</a:t>
            </a:r>
            <a:r>
              <a:rPr lang="en-US" sz="1800" dirty="0" err="1">
                <a:hlinkClick r:id="rId2"/>
              </a:rPr>
              <a:t>edadataviz.ipynb</a:t>
            </a:r>
            <a:r>
              <a:rPr lang="en-US" sz="1800" dirty="0">
                <a:hlinkClick r:id="rId2"/>
              </a:rPr>
              <a:t> at main · DougBedore01/README.md</a:t>
            </a:r>
            <a:endParaRPr lang="en-US" sz="1800" dirty="0"/>
          </a:p>
        </p:txBody>
      </p:sp>
      <p:sp>
        <p:nvSpPr>
          <p:cNvPr id="3" name="Title 1">
            <a:extLst>
              <a:ext uri="{FF2B5EF4-FFF2-40B4-BE49-F238E27FC236}">
                <a16:creationId xmlns:a16="http://schemas.microsoft.com/office/drawing/2014/main" id="{0FDB80A9-BCC8-FE92-7984-EDAAAEE56BE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 Part 2</a:t>
            </a:r>
          </a:p>
        </p:txBody>
      </p:sp>
    </p:spTree>
    <p:extLst>
      <p:ext uri="{BB962C8B-B14F-4D97-AF65-F5344CB8AC3E}">
        <p14:creationId xmlns:p14="http://schemas.microsoft.com/office/powerpoint/2010/main" val="1953072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90972" y="1291419"/>
            <a:ext cx="12010056" cy="5349224"/>
          </a:xfrm>
          <a:prstGeom prst="rect">
            <a:avLst/>
          </a:prstGeom>
        </p:spPr>
        <p:txBody>
          <a:bodyPr lIns="91440" tIns="45720" rIns="91440" bIns="45720" anchor="t"/>
          <a:lstStyle/>
          <a:p>
            <a:pPr>
              <a:lnSpc>
                <a:spcPct val="100000"/>
              </a:lnSpc>
              <a:spcBef>
                <a:spcPts val="1400"/>
              </a:spcBef>
            </a:pPr>
            <a:r>
              <a:rPr lang="en-US" sz="1800" dirty="0">
                <a:solidFill>
                  <a:schemeClr val="accent3">
                    <a:lumMod val="25000"/>
                  </a:schemeClr>
                </a:solidFill>
                <a:latin typeface="Abadi"/>
              </a:rPr>
              <a:t>SQL queries summarized:</a:t>
            </a:r>
          </a:p>
          <a:p>
            <a:pPr>
              <a:lnSpc>
                <a:spcPct val="100000"/>
              </a:lnSpc>
              <a:spcBef>
                <a:spcPts val="1400"/>
              </a:spcBef>
            </a:pPr>
            <a:r>
              <a:rPr lang="en-GB" sz="1200" dirty="0"/>
              <a:t>Display the names of the unique launch sites in the space mission.</a:t>
            </a:r>
          </a:p>
          <a:p>
            <a:pPr>
              <a:lnSpc>
                <a:spcPct val="100000"/>
              </a:lnSpc>
              <a:spcBef>
                <a:spcPts val="1400"/>
              </a:spcBef>
            </a:pPr>
            <a:r>
              <a:rPr lang="en-GB" sz="1200" dirty="0"/>
              <a:t>Display 5 records where launch sites begin with the string 'CCA'</a:t>
            </a:r>
          </a:p>
          <a:p>
            <a:pPr>
              <a:lnSpc>
                <a:spcPct val="100000"/>
              </a:lnSpc>
              <a:spcBef>
                <a:spcPts val="1400"/>
              </a:spcBef>
            </a:pPr>
            <a:r>
              <a:rPr lang="en-GB" sz="1200" dirty="0"/>
              <a:t>Display the total payload mass carried by boosters launched by NASA (CRS)</a:t>
            </a:r>
          </a:p>
          <a:p>
            <a:pPr>
              <a:lnSpc>
                <a:spcPct val="100000"/>
              </a:lnSpc>
              <a:spcBef>
                <a:spcPts val="1400"/>
              </a:spcBef>
            </a:pPr>
            <a:r>
              <a:rPr lang="en-GB" sz="1200" dirty="0"/>
              <a:t>Display average payload mass carried by booster version F9 v1.1</a:t>
            </a:r>
          </a:p>
          <a:p>
            <a:pPr>
              <a:lnSpc>
                <a:spcPct val="100000"/>
              </a:lnSpc>
              <a:spcBef>
                <a:spcPts val="1400"/>
              </a:spcBef>
            </a:pPr>
            <a:r>
              <a:rPr lang="en-GB" sz="1200" dirty="0"/>
              <a:t>List the date when the first successful landing outcome in ground pad was achieved.</a:t>
            </a:r>
          </a:p>
          <a:p>
            <a:pPr>
              <a:lnSpc>
                <a:spcPct val="100000"/>
              </a:lnSpc>
              <a:spcBef>
                <a:spcPts val="1400"/>
              </a:spcBef>
            </a:pPr>
            <a:r>
              <a:rPr lang="en-GB" sz="1200" dirty="0"/>
              <a:t>List the names of the boosters which have success in drone ship and have payload mass greater than 4000 but less than 6000</a:t>
            </a:r>
          </a:p>
          <a:p>
            <a:pPr>
              <a:lnSpc>
                <a:spcPct val="100000"/>
              </a:lnSpc>
              <a:spcBef>
                <a:spcPts val="1400"/>
              </a:spcBef>
            </a:pPr>
            <a:r>
              <a:rPr lang="en-GB" sz="1200" dirty="0"/>
              <a:t>List the total number of successful and failure mission outcomes</a:t>
            </a:r>
          </a:p>
          <a:p>
            <a:pPr>
              <a:lnSpc>
                <a:spcPct val="100000"/>
              </a:lnSpc>
              <a:spcBef>
                <a:spcPts val="1400"/>
              </a:spcBef>
            </a:pPr>
            <a:r>
              <a:rPr lang="en-GB" sz="1200" dirty="0"/>
              <a:t>List all the </a:t>
            </a:r>
            <a:r>
              <a:rPr lang="en-GB" sz="1200" dirty="0" err="1"/>
              <a:t>booster_versions</a:t>
            </a:r>
            <a:r>
              <a:rPr lang="en-GB" sz="1200" dirty="0"/>
              <a:t> that have carried the maximum payload mass, using a subquery with a suitable aggregate function.</a:t>
            </a:r>
          </a:p>
          <a:p>
            <a:pPr>
              <a:lnSpc>
                <a:spcPct val="100000"/>
              </a:lnSpc>
              <a:spcBef>
                <a:spcPts val="1400"/>
              </a:spcBef>
            </a:pPr>
            <a:r>
              <a:rPr lang="en-GB" sz="1200" dirty="0"/>
              <a:t>List the records which will display the month names, failure </a:t>
            </a:r>
            <a:r>
              <a:rPr lang="en-GB" sz="1200" dirty="0" err="1"/>
              <a:t>landing_outcomes</a:t>
            </a:r>
            <a:r>
              <a:rPr lang="en-GB" sz="1200" dirty="0"/>
              <a:t> in drone ship ,booster versions, </a:t>
            </a:r>
            <a:r>
              <a:rPr lang="en-GB" sz="1200" dirty="0" err="1"/>
              <a:t>launch_site</a:t>
            </a:r>
            <a:r>
              <a:rPr lang="en-GB" sz="1200" dirty="0"/>
              <a:t> for the months in year 2015.</a:t>
            </a:r>
          </a:p>
          <a:p>
            <a:pPr>
              <a:lnSpc>
                <a:spcPct val="100000"/>
              </a:lnSpc>
              <a:spcBef>
                <a:spcPts val="1400"/>
              </a:spcBef>
            </a:pPr>
            <a:r>
              <a:rPr lang="en-GB" sz="1200" dirty="0"/>
              <a:t>Rank the count of landing outcomes (such as Failure (drone ship) or Success (ground pad)) between the date 2010-06-04 and 2017-03-20, in descending order.</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000" dirty="0">
                <a:solidFill>
                  <a:schemeClr val="accent3">
                    <a:lumMod val="25000"/>
                  </a:schemeClr>
                </a:solidFill>
                <a:latin typeface="Abadi" panose="020B0604020104020204" pitchFamily="34" charset="0"/>
              </a:rPr>
              <a:t>GitHub URL: </a:t>
            </a:r>
            <a:r>
              <a:rPr lang="en-US" sz="2000" dirty="0">
                <a:hlinkClick r:id="rId3"/>
              </a:rPr>
              <a:t>README.md/</a:t>
            </a:r>
            <a:r>
              <a:rPr lang="en-US" sz="2000" dirty="0" err="1">
                <a:hlinkClick r:id="rId3"/>
              </a:rPr>
              <a:t>jupyter</a:t>
            </a:r>
            <a:r>
              <a:rPr lang="en-US" sz="2000" dirty="0">
                <a:hlinkClick r:id="rId3"/>
              </a:rPr>
              <a:t>-labs-</a:t>
            </a:r>
            <a:r>
              <a:rPr lang="en-US" sz="2000" dirty="0" err="1">
                <a:hlinkClick r:id="rId3"/>
              </a:rPr>
              <a:t>eda</a:t>
            </a:r>
            <a:r>
              <a:rPr lang="en-US" sz="2000" dirty="0">
                <a:hlinkClick r:id="rId3"/>
              </a:rPr>
              <a:t>-</a:t>
            </a:r>
            <a:r>
              <a:rPr lang="en-US" sz="2000" dirty="0" err="1">
                <a:hlinkClick r:id="rId3"/>
              </a:rPr>
              <a:t>sql-coursera_sqllite.ipynb</a:t>
            </a:r>
            <a:r>
              <a:rPr lang="en-US" sz="2000" dirty="0">
                <a:hlinkClick r:id="rId3"/>
              </a:rPr>
              <a:t> at main · DougBedore01/README.md</a:t>
            </a:r>
            <a:endParaRPr lang="en-US" sz="2000" dirty="0"/>
          </a:p>
          <a:p>
            <a:endParaRPr lang="en-US" dirty="0"/>
          </a:p>
          <a:p>
            <a:endParaRPr lang="en-US" dirty="0"/>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Tree>
    <p:extLst>
      <p:ext uri="{BB962C8B-B14F-4D97-AF65-F5344CB8AC3E}">
        <p14:creationId xmlns:p14="http://schemas.microsoft.com/office/powerpoint/2010/main" val="157872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fontScale="62500" lnSpcReduction="20000"/>
          </a:bodyPr>
          <a:lstStyle/>
          <a:p>
            <a:r>
              <a:rPr lang="en-US" sz="2300" u="sng" dirty="0">
                <a:latin typeface="Abadi" panose="020B0604020104020204" pitchFamily="34" charset="0"/>
              </a:rPr>
              <a:t>Map Initialization</a:t>
            </a:r>
          </a:p>
          <a:p>
            <a:pPr lvl="1"/>
            <a:r>
              <a:rPr lang="en-US" sz="1900" dirty="0" err="1">
                <a:latin typeface="Abadi" panose="020B0604020104020204" pitchFamily="34" charset="0"/>
              </a:rPr>
              <a:t>folium.Map</a:t>
            </a:r>
            <a:r>
              <a:rPr lang="en-US" sz="1900" dirty="0">
                <a:latin typeface="Abadi" panose="020B0604020104020204" pitchFamily="34" charset="0"/>
              </a:rPr>
              <a:t>(location=</a:t>
            </a:r>
            <a:r>
              <a:rPr lang="en-US" sz="1900" dirty="0" err="1">
                <a:latin typeface="Abadi" panose="020B0604020104020204" pitchFamily="34" charset="0"/>
              </a:rPr>
              <a:t>nasa_coordinate</a:t>
            </a:r>
            <a:r>
              <a:rPr lang="en-US" sz="1900" dirty="0">
                <a:latin typeface="Abadi" panose="020B0604020104020204" pitchFamily="34" charset="0"/>
              </a:rPr>
              <a:t>, </a:t>
            </a:r>
            <a:r>
              <a:rPr lang="en-US" sz="1900" dirty="0" err="1">
                <a:latin typeface="Abadi" panose="020B0604020104020204" pitchFamily="34" charset="0"/>
              </a:rPr>
              <a:t>zoom_start</a:t>
            </a:r>
            <a:r>
              <a:rPr lang="en-US" sz="1900" dirty="0">
                <a:latin typeface="Abadi" panose="020B0604020104020204" pitchFamily="34" charset="0"/>
              </a:rPr>
              <a:t>=10)</a:t>
            </a:r>
          </a:p>
          <a:p>
            <a:pPr lvl="1"/>
            <a:r>
              <a:rPr lang="en-US" sz="1900" dirty="0">
                <a:latin typeface="Abadi" panose="020B0604020104020204" pitchFamily="34" charset="0"/>
              </a:rPr>
              <a:t>A Folium map centered at the NASA Johnson Space Center coordinates.</a:t>
            </a:r>
          </a:p>
          <a:p>
            <a:r>
              <a:rPr lang="en-US" sz="2300" u="sng" dirty="0">
                <a:latin typeface="Abadi" panose="020B0604020104020204" pitchFamily="34" charset="0"/>
              </a:rPr>
              <a:t>Circle</a:t>
            </a:r>
          </a:p>
          <a:p>
            <a:pPr lvl="1"/>
            <a:r>
              <a:rPr lang="en-US" sz="1900" dirty="0" err="1">
                <a:latin typeface="Abadi" panose="020B0604020104020204" pitchFamily="34" charset="0"/>
              </a:rPr>
              <a:t>folium.Circle</a:t>
            </a:r>
            <a:r>
              <a:rPr lang="en-US" sz="1900" dirty="0">
                <a:latin typeface="Abadi" panose="020B0604020104020204" pitchFamily="34" charset="0"/>
              </a:rPr>
              <a:t>(...)</a:t>
            </a:r>
          </a:p>
          <a:p>
            <a:pPr lvl="1"/>
            <a:r>
              <a:rPr lang="en-US" sz="1900" dirty="0">
                <a:latin typeface="Abadi" panose="020B0604020104020204" pitchFamily="34" charset="0"/>
              </a:rPr>
              <a:t>A circle with a 1000-meter radius centered at NASA Johnson Space Center.</a:t>
            </a:r>
          </a:p>
          <a:p>
            <a:pPr lvl="1"/>
            <a:r>
              <a:rPr lang="en-US" sz="1900" dirty="0">
                <a:latin typeface="Abadi" panose="020B0604020104020204" pitchFamily="34" charset="0"/>
              </a:rPr>
              <a:t>Colored orange (#d35400) and includes a popup label: "NASA Johnson Space Center".</a:t>
            </a:r>
          </a:p>
          <a:p>
            <a:r>
              <a:rPr lang="en-US" sz="2300" u="sng" dirty="0">
                <a:latin typeface="Abadi" panose="020B0604020104020204" pitchFamily="34" charset="0"/>
              </a:rPr>
              <a:t>Marker with Text Label</a:t>
            </a:r>
          </a:p>
          <a:p>
            <a:pPr lvl="1"/>
            <a:r>
              <a:rPr lang="en-US" sz="1900" dirty="0" err="1">
                <a:latin typeface="Abadi" panose="020B0604020104020204" pitchFamily="34" charset="0"/>
              </a:rPr>
              <a:t>folium.Marker</a:t>
            </a:r>
            <a:r>
              <a:rPr lang="en-US" sz="1900" dirty="0">
                <a:latin typeface="Abadi" panose="020B0604020104020204" pitchFamily="34" charset="0"/>
              </a:rPr>
              <a:t>(..., icon=</a:t>
            </a:r>
            <a:r>
              <a:rPr lang="en-US" sz="1900" dirty="0" err="1">
                <a:latin typeface="Abadi" panose="020B0604020104020204" pitchFamily="34" charset="0"/>
              </a:rPr>
              <a:t>DivIcon</a:t>
            </a:r>
            <a:r>
              <a:rPr lang="en-US" sz="1900" dirty="0">
                <a:latin typeface="Abadi" panose="020B0604020104020204" pitchFamily="34" charset="0"/>
              </a:rPr>
              <a:t>(...))</a:t>
            </a:r>
          </a:p>
          <a:p>
            <a:pPr lvl="1"/>
            <a:r>
              <a:rPr lang="en-US" sz="1900" dirty="0">
                <a:latin typeface="Abadi" panose="020B0604020104020204" pitchFamily="34" charset="0"/>
              </a:rPr>
              <a:t>A marker at the same NASA location using a </a:t>
            </a:r>
            <a:r>
              <a:rPr lang="en-US" sz="1900" dirty="0" err="1">
                <a:latin typeface="Abadi" panose="020B0604020104020204" pitchFamily="34" charset="0"/>
              </a:rPr>
              <a:t>DivIcon</a:t>
            </a:r>
            <a:r>
              <a:rPr lang="en-US" sz="1900" dirty="0">
                <a:latin typeface="Abadi" panose="020B0604020104020204" pitchFamily="34" charset="0"/>
              </a:rPr>
              <a:t> (custom HTML text).</a:t>
            </a:r>
          </a:p>
          <a:p>
            <a:pPr lvl="1"/>
            <a:r>
              <a:rPr lang="en-US" sz="1900" dirty="0">
                <a:latin typeface="Abadi" panose="020B0604020104020204" pitchFamily="34" charset="0"/>
              </a:rPr>
              <a:t>Displays "NASA JSC" as an on-map label.</a:t>
            </a:r>
          </a:p>
          <a:p>
            <a:pPr marL="457200" lvl="1" indent="0">
              <a:buNone/>
            </a:pPr>
            <a:endParaRPr lang="en-US" sz="1900" dirty="0">
              <a:latin typeface="Abadi" panose="020B0604020104020204" pitchFamily="34" charset="0"/>
            </a:endParaRPr>
          </a:p>
          <a:p>
            <a:pPr marL="0" indent="0">
              <a:buNone/>
            </a:pPr>
            <a:r>
              <a:rPr lang="en-US" sz="2300" u="sng" dirty="0">
                <a:latin typeface="Abadi" panose="020B0604020104020204" pitchFamily="34" charset="0"/>
              </a:rPr>
              <a:t>Explanation:</a:t>
            </a:r>
          </a:p>
          <a:p>
            <a:r>
              <a:rPr lang="en-US" sz="2300" dirty="0">
                <a:latin typeface="Abadi" panose="020B0604020104020204" pitchFamily="34" charset="0"/>
              </a:rPr>
              <a:t>Map Initialization: Sets up the base map to visualize data.</a:t>
            </a:r>
          </a:p>
          <a:p>
            <a:r>
              <a:rPr lang="en-US" sz="2300" dirty="0">
                <a:latin typeface="Abadi" panose="020B0604020104020204" pitchFamily="34" charset="0"/>
              </a:rPr>
              <a:t>Circle (NASA JSC): Highlights the specific location of NASA JSC on the map with a visible radius.</a:t>
            </a:r>
          </a:p>
          <a:p>
            <a:r>
              <a:rPr lang="en-US" sz="2300" dirty="0">
                <a:latin typeface="Abadi" panose="020B0604020104020204" pitchFamily="34" charset="0"/>
              </a:rPr>
              <a:t>Text Marker (NASA JSC): Provides a readable label directly on the map, enhancing user understanding.</a:t>
            </a:r>
          </a:p>
          <a:p>
            <a:r>
              <a:rPr lang="en-US" sz="2300" dirty="0">
                <a:latin typeface="Abadi" panose="020B0604020104020204" pitchFamily="34" charset="0"/>
              </a:rPr>
              <a:t>Other Launch Sites: To compare multiple launch site locations, which is important for geographic analysis.</a:t>
            </a:r>
            <a:endParaRPr lang="en-US" sz="23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GitHub URL: </a:t>
            </a:r>
            <a:r>
              <a:rPr lang="en-US" sz="2400" dirty="0">
                <a:hlinkClick r:id="rId3"/>
              </a:rPr>
              <a:t>README.md/</a:t>
            </a:r>
            <a:r>
              <a:rPr lang="en-US" sz="2400" dirty="0" err="1">
                <a:hlinkClick r:id="rId3"/>
              </a:rPr>
              <a:t>lab_jupyter_launch_site_location.ipynb</a:t>
            </a:r>
            <a:r>
              <a:rPr lang="en-US" sz="2400" dirty="0">
                <a:hlinkClick r:id="rId3"/>
              </a:rPr>
              <a:t> at main · DougBedore01/README.md</a:t>
            </a:r>
            <a:endParaRPr lang="en-US" sz="2200" dirty="0">
              <a:solidFill>
                <a:schemeClr val="accent3">
                  <a:lumMod val="25000"/>
                </a:schemeClr>
              </a:solidFill>
              <a:latin typeface="Abadi" panose="020B0604020104020204" pitchFamily="34" charset="0"/>
            </a:endParaRPr>
          </a:p>
          <a:p>
            <a:endParaRPr lang="en-US" dirty="0"/>
          </a:p>
          <a:p>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527567"/>
            <a:ext cx="9745589" cy="4791783"/>
          </a:xfrm>
          <a:prstGeom prst="rect">
            <a:avLst/>
          </a:prstGeom>
        </p:spPr>
        <p:txBody>
          <a:bodyPr vert="horz" lIns="91440" tIns="45720" rIns="91440" bIns="45720" rtlCol="0" anchor="t">
            <a:normAutofit fontScale="62500" lnSpcReduction="20000"/>
          </a:bodyPr>
          <a:lstStyle/>
          <a:p>
            <a:r>
              <a:rPr lang="en-US" dirty="0"/>
              <a:t>Summary of Plots/Graphs and Interactions:</a:t>
            </a:r>
          </a:p>
          <a:p>
            <a:r>
              <a:rPr lang="en-US" sz="2500" dirty="0">
                <a:latin typeface="Abadi" panose="020B0604020104020204" pitchFamily="34" charset="0"/>
              </a:rPr>
              <a:t>Pie Chart: success-pie-chart</a:t>
            </a:r>
          </a:p>
          <a:p>
            <a:pPr marL="457200" lvl="1" indent="0">
              <a:buNone/>
            </a:pPr>
            <a:r>
              <a:rPr lang="en-US" sz="2500" dirty="0">
                <a:latin typeface="Abadi" panose="020B0604020104020204" pitchFamily="34" charset="0"/>
              </a:rPr>
              <a:t>Displays either:</a:t>
            </a:r>
          </a:p>
          <a:p>
            <a:pPr lvl="1"/>
            <a:r>
              <a:rPr lang="en-US" sz="2500" dirty="0">
                <a:latin typeface="Abadi" panose="020B0604020104020204" pitchFamily="34" charset="0"/>
              </a:rPr>
              <a:t>Total successful launches by site (when "All Sites" is selected).</a:t>
            </a:r>
          </a:p>
          <a:p>
            <a:pPr lvl="1"/>
            <a:r>
              <a:rPr lang="en-US" sz="2500" dirty="0">
                <a:latin typeface="Abadi" panose="020B0604020104020204" pitchFamily="34" charset="0"/>
              </a:rPr>
              <a:t>Success vs. failure for a selected launch site.</a:t>
            </a:r>
          </a:p>
          <a:p>
            <a:pPr lvl="0"/>
            <a:r>
              <a:rPr lang="en-US" sz="2500" dirty="0">
                <a:latin typeface="Abadi" panose="020B0604020104020204" pitchFamily="34" charset="0"/>
              </a:rPr>
              <a:t>Created using </a:t>
            </a:r>
            <a:r>
              <a:rPr lang="en-US" sz="2500" dirty="0" err="1">
                <a:latin typeface="Abadi" panose="020B0604020104020204" pitchFamily="34" charset="0"/>
              </a:rPr>
              <a:t>Plotly</a:t>
            </a:r>
            <a:r>
              <a:rPr lang="en-US" sz="2500" dirty="0">
                <a:latin typeface="Abadi" panose="020B0604020104020204" pitchFamily="34" charset="0"/>
              </a:rPr>
              <a:t> Express </a:t>
            </a:r>
            <a:r>
              <a:rPr lang="en-US" sz="2500" dirty="0" err="1">
                <a:latin typeface="Abadi" panose="020B0604020104020204" pitchFamily="34" charset="0"/>
              </a:rPr>
              <a:t>px.pie</a:t>
            </a:r>
            <a:r>
              <a:rPr lang="en-US" sz="2500" dirty="0">
                <a:latin typeface="Abadi" panose="020B0604020104020204" pitchFamily="34" charset="0"/>
              </a:rPr>
              <a:t>().</a:t>
            </a:r>
          </a:p>
          <a:p>
            <a:r>
              <a:rPr lang="en-US" sz="2500" dirty="0">
                <a:latin typeface="Abadi" panose="020B0604020104020204" pitchFamily="34" charset="0"/>
              </a:rPr>
              <a:t>Scatter Plot: success-payload-scatter-chart</a:t>
            </a:r>
          </a:p>
          <a:p>
            <a:pPr lvl="1"/>
            <a:r>
              <a:rPr lang="en-US" sz="2500" dirty="0">
                <a:latin typeface="Abadi" panose="020B0604020104020204" pitchFamily="34" charset="0"/>
              </a:rPr>
              <a:t>Shows payload mass vs. launch success (class), color-coded by booster version category.</a:t>
            </a:r>
          </a:p>
          <a:p>
            <a:pPr lvl="1"/>
            <a:r>
              <a:rPr lang="en-US" sz="2500" dirty="0">
                <a:latin typeface="Abadi" panose="020B0604020104020204" pitchFamily="34" charset="0"/>
              </a:rPr>
              <a:t>Dynamically filters data based on selected site and payload range.</a:t>
            </a:r>
          </a:p>
          <a:p>
            <a:pPr lvl="0"/>
            <a:r>
              <a:rPr lang="en-US" sz="2500" dirty="0">
                <a:latin typeface="Abadi" panose="020B0604020104020204" pitchFamily="34" charset="0"/>
              </a:rPr>
              <a:t>Created using </a:t>
            </a:r>
            <a:r>
              <a:rPr lang="en-US" sz="2500" dirty="0" err="1">
                <a:latin typeface="Abadi" panose="020B0604020104020204" pitchFamily="34" charset="0"/>
              </a:rPr>
              <a:t>Plotly</a:t>
            </a:r>
            <a:r>
              <a:rPr lang="en-US" sz="2500" dirty="0">
                <a:latin typeface="Abadi" panose="020B0604020104020204" pitchFamily="34" charset="0"/>
              </a:rPr>
              <a:t> Express </a:t>
            </a:r>
            <a:r>
              <a:rPr lang="en-US" sz="2500" dirty="0" err="1">
                <a:latin typeface="Abadi" panose="020B0604020104020204" pitchFamily="34" charset="0"/>
              </a:rPr>
              <a:t>px.scatter</a:t>
            </a:r>
            <a:r>
              <a:rPr lang="en-US" sz="2500" dirty="0">
                <a:latin typeface="Abadi" panose="020B0604020104020204" pitchFamily="34" charset="0"/>
              </a:rPr>
              <a:t>().</a:t>
            </a:r>
          </a:p>
          <a:p>
            <a:r>
              <a:rPr lang="en-US" sz="2500" dirty="0">
                <a:latin typeface="Abadi" panose="020B0604020104020204" pitchFamily="34" charset="0"/>
              </a:rPr>
              <a:t>Dropdown Menu: site-dropdown</a:t>
            </a:r>
          </a:p>
          <a:p>
            <a:pPr lvl="1"/>
            <a:r>
              <a:rPr lang="en-US" sz="2100" dirty="0">
                <a:latin typeface="Abadi" panose="020B0604020104020204" pitchFamily="34" charset="0"/>
              </a:rPr>
              <a:t>Allows users to select a specific launch site or view data from all sites.</a:t>
            </a:r>
          </a:p>
          <a:p>
            <a:pPr lvl="1"/>
            <a:r>
              <a:rPr lang="en-US" sz="2100" dirty="0">
                <a:latin typeface="Abadi" panose="020B0604020104020204" pitchFamily="34" charset="0"/>
              </a:rPr>
              <a:t>Triggers updates to both the pie chart and scatter plot.</a:t>
            </a:r>
          </a:p>
          <a:p>
            <a:r>
              <a:rPr lang="en-US" sz="2500" dirty="0">
                <a:latin typeface="Abadi" panose="020B0604020104020204" pitchFamily="34" charset="0"/>
              </a:rPr>
              <a:t>Range Slider: payload-slider</a:t>
            </a:r>
          </a:p>
          <a:p>
            <a:pPr lvl="1"/>
            <a:r>
              <a:rPr lang="en-US" sz="2100" dirty="0">
                <a:latin typeface="Abadi" panose="020B0604020104020204" pitchFamily="34" charset="0"/>
              </a:rPr>
              <a:t>Lets users select a payload mass range (in kg).</a:t>
            </a:r>
          </a:p>
          <a:p>
            <a:pPr lvl="1"/>
            <a:r>
              <a:rPr lang="en-US" sz="2100" dirty="0">
                <a:latin typeface="Abadi" panose="020B0604020104020204" pitchFamily="34" charset="0"/>
              </a:rPr>
              <a:t>Affects the scatter plot to show only launches within the selected range.</a:t>
            </a:r>
          </a:p>
          <a:p>
            <a:pPr>
              <a:lnSpc>
                <a:spcPct val="100000"/>
              </a:lnSpc>
              <a:spcBef>
                <a:spcPts val="1400"/>
              </a:spcBef>
            </a:pPr>
            <a:r>
              <a:rPr lang="en-US" sz="2200" dirty="0">
                <a:solidFill>
                  <a:schemeClr val="accent3">
                    <a:lumMod val="25000"/>
                  </a:schemeClr>
                </a:solidFill>
                <a:latin typeface="Abadi" panose="020B0604020104020204" pitchFamily="34" charset="0"/>
              </a:rPr>
              <a:t>GitHub URL: </a:t>
            </a:r>
            <a:r>
              <a:rPr lang="en-US" dirty="0">
                <a:hlinkClick r:id="rId3"/>
              </a:rPr>
              <a:t>README.md/scapex-dash-app_2.py at main · DougBedore01/README.md</a:t>
            </a:r>
            <a:endParaRPr lang="en-US" dirty="0"/>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Tree>
    <p:extLst>
      <p:ext uri="{BB962C8B-B14F-4D97-AF65-F5344CB8AC3E}">
        <p14:creationId xmlns:p14="http://schemas.microsoft.com/office/powerpoint/2010/main" val="334532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8581" y="1293019"/>
            <a:ext cx="10437019" cy="5493544"/>
          </a:xfrm>
          <a:prstGeom prst="rect">
            <a:avLst/>
          </a:prstGeom>
        </p:spPr>
        <p:txBody>
          <a:bodyPr>
            <a:normAutofit fontScale="47500" lnSpcReduction="20000"/>
          </a:bodyPr>
          <a:lstStyle/>
          <a:p>
            <a:r>
              <a:rPr lang="en-US" b="1" dirty="0"/>
              <a:t>Data Preprocessing</a:t>
            </a:r>
            <a:endParaRPr lang="en-US" dirty="0"/>
          </a:p>
          <a:p>
            <a:pPr lvl="0"/>
            <a:r>
              <a:rPr lang="en-US" dirty="0"/>
              <a:t>Feature selection &amp; encoding</a:t>
            </a:r>
          </a:p>
          <a:p>
            <a:pPr lvl="0"/>
            <a:r>
              <a:rPr lang="en-US" dirty="0"/>
              <a:t>Train-test split</a:t>
            </a:r>
          </a:p>
          <a:p>
            <a:pPr lvl="0"/>
            <a:r>
              <a:rPr lang="en-US" dirty="0"/>
              <a:t>Feature scaling</a:t>
            </a:r>
          </a:p>
          <a:p>
            <a:r>
              <a:rPr lang="en-US" b="1" dirty="0"/>
              <a:t>Model Building</a:t>
            </a:r>
            <a:endParaRPr lang="en-US" dirty="0"/>
          </a:p>
          <a:p>
            <a:pPr lvl="0"/>
            <a:r>
              <a:rPr lang="en-US" dirty="0"/>
              <a:t>Multiple classifiers tested: Logistic Regression, Decision Tree, SVM, KNN.</a:t>
            </a:r>
          </a:p>
          <a:p>
            <a:pPr lvl="0"/>
            <a:r>
              <a:rPr lang="en-US" dirty="0"/>
              <a:t>Pipeline used for automation and reproducibility</a:t>
            </a:r>
          </a:p>
          <a:p>
            <a:r>
              <a:rPr lang="en-US" b="1" dirty="0"/>
              <a:t>Evaluation</a:t>
            </a:r>
            <a:endParaRPr lang="en-US" dirty="0"/>
          </a:p>
          <a:p>
            <a:pPr lvl="0"/>
            <a:r>
              <a:rPr lang="en-US" dirty="0"/>
              <a:t>Used metrics: Accuracy, F1-score, Confusion Matrix</a:t>
            </a:r>
          </a:p>
          <a:p>
            <a:pPr lvl="0"/>
            <a:r>
              <a:rPr lang="en-US" dirty="0"/>
              <a:t>Cross-validation (</a:t>
            </a:r>
            <a:r>
              <a:rPr lang="en-US" dirty="0" err="1"/>
              <a:t>GridSearchCV</a:t>
            </a:r>
            <a:r>
              <a:rPr lang="en-US" dirty="0"/>
              <a:t>) for hyperparameter tuning</a:t>
            </a:r>
          </a:p>
          <a:p>
            <a:r>
              <a:rPr lang="en-US" b="1" dirty="0"/>
              <a:t>Model Tuning</a:t>
            </a:r>
            <a:endParaRPr lang="en-US" dirty="0"/>
          </a:p>
          <a:p>
            <a:pPr lvl="0"/>
            <a:r>
              <a:rPr lang="en-US" dirty="0"/>
              <a:t>Hyperparameter optimization via </a:t>
            </a:r>
            <a:r>
              <a:rPr lang="en-US" dirty="0" err="1"/>
              <a:t>GridSearchCV</a:t>
            </a:r>
            <a:endParaRPr lang="en-US" dirty="0"/>
          </a:p>
          <a:p>
            <a:pPr lvl="0"/>
            <a:r>
              <a:rPr lang="en-US" dirty="0"/>
              <a:t>Feature importance analysis (for tree-based models)</a:t>
            </a:r>
          </a:p>
          <a:p>
            <a:r>
              <a:rPr lang="en-US" b="1" dirty="0"/>
              <a:t>Model Comparison</a:t>
            </a:r>
            <a:endParaRPr lang="en-US" dirty="0"/>
          </a:p>
          <a:p>
            <a:pPr lvl="0"/>
            <a:r>
              <a:rPr lang="en-US" dirty="0"/>
              <a:t>Compared performance using evaluation metrics</a:t>
            </a:r>
          </a:p>
          <a:p>
            <a:pPr lvl="0"/>
            <a:r>
              <a:rPr lang="en-US" dirty="0"/>
              <a:t>Identified best-performing model based on validation scores</a:t>
            </a:r>
          </a:p>
          <a:p>
            <a:r>
              <a:rPr lang="en-US" b="1" dirty="0"/>
              <a:t>Best Model Selection</a:t>
            </a:r>
            <a:endParaRPr lang="en-US" dirty="0"/>
          </a:p>
          <a:p>
            <a:pPr lvl="0"/>
            <a:r>
              <a:rPr lang="en-US" dirty="0"/>
              <a:t>Final model selected based on highest accuracy/F1 on validation/test set.</a:t>
            </a:r>
          </a:p>
          <a:p>
            <a:pPr lvl="0"/>
            <a:r>
              <a:rPr lang="en-US" dirty="0"/>
              <a:t>Test Accuracy on all models was identical: 0.8333</a:t>
            </a:r>
          </a:p>
          <a:p>
            <a:pPr>
              <a:lnSpc>
                <a:spcPct val="100000"/>
              </a:lnSpc>
              <a:spcBef>
                <a:spcPts val="1400"/>
              </a:spcBef>
            </a:pPr>
            <a:r>
              <a:rPr lang="en-US" sz="2200" dirty="0">
                <a:solidFill>
                  <a:schemeClr val="accent3">
                    <a:lumMod val="25000"/>
                  </a:schemeClr>
                </a:solidFill>
                <a:latin typeface="Abadi" panose="020B0604020104020204" pitchFamily="34" charset="0"/>
              </a:rPr>
              <a:t>GitHub URL: </a:t>
            </a:r>
            <a:r>
              <a:rPr lang="en-GB" dirty="0">
                <a:hlinkClick r:id="rId3"/>
              </a:rPr>
              <a:t>README.md/</a:t>
            </a:r>
            <a:r>
              <a:rPr lang="en-GB" dirty="0" err="1">
                <a:hlinkClick r:id="rId3"/>
              </a:rPr>
              <a:t>SpaceX_Machine</a:t>
            </a:r>
            <a:r>
              <a:rPr lang="en-GB" dirty="0">
                <a:hlinkClick r:id="rId3"/>
              </a:rPr>
              <a:t> Learning Prediction_Part_5.ipynb at main · DougBedore01/README.md</a:t>
            </a:r>
            <a:endParaRPr lang="en-US" dirty="0"/>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
        <p:nvSpPr>
          <p:cNvPr id="2" name="Slide Number Placeholder 3">
            <a:extLst>
              <a:ext uri="{FF2B5EF4-FFF2-40B4-BE49-F238E27FC236}">
                <a16:creationId xmlns:a16="http://schemas.microsoft.com/office/drawing/2014/main" id="{2A1A170D-8423-C1FC-E0D4-888CEA23ADBE}"/>
              </a:ext>
            </a:extLst>
          </p:cNvPr>
          <p:cNvSpPr txBox="1">
            <a:spLocks/>
          </p:cNvSpPr>
          <p:nvPr/>
        </p:nvSpPr>
        <p:spPr>
          <a:xfrm>
            <a:off x="8714772" y="6025573"/>
            <a:ext cx="2743200" cy="401638"/>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rgbClr val="1C7DDB"/>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5537C-CA84-1446-933C-8E9D027F9201}" type="slidenum">
              <a:rPr lang="en-US" smtClean="0"/>
              <a:pPr/>
              <a:t>16</a:t>
            </a:fld>
            <a:endParaRPr lang="en-US"/>
          </a:p>
        </p:txBody>
      </p:sp>
      <p:cxnSp>
        <p:nvCxnSpPr>
          <p:cNvPr id="6" name="Connector: Elbow 5">
            <a:extLst>
              <a:ext uri="{FF2B5EF4-FFF2-40B4-BE49-F238E27FC236}">
                <a16:creationId xmlns:a16="http://schemas.microsoft.com/office/drawing/2014/main" id="{832F125B-66A7-7382-4A75-3142D8D96919}"/>
              </a:ext>
            </a:extLst>
          </p:cNvPr>
          <p:cNvCxnSpPr>
            <a:cxnSpLocks/>
            <a:endCxn id="11" idx="0"/>
          </p:cNvCxnSpPr>
          <p:nvPr/>
        </p:nvCxnSpPr>
        <p:spPr>
          <a:xfrm rot="10800000" flipV="1">
            <a:off x="7839260" y="1783360"/>
            <a:ext cx="1396996" cy="5068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C3660189-638F-B2CC-084A-A005ED4707CF}"/>
              </a:ext>
            </a:extLst>
          </p:cNvPr>
          <p:cNvSpPr/>
          <p:nvPr/>
        </p:nvSpPr>
        <p:spPr>
          <a:xfrm>
            <a:off x="8947703" y="1492961"/>
            <a:ext cx="1589809" cy="540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8" name="Rectangle 7">
            <a:extLst>
              <a:ext uri="{FF2B5EF4-FFF2-40B4-BE49-F238E27FC236}">
                <a16:creationId xmlns:a16="http://schemas.microsoft.com/office/drawing/2014/main" id="{8E6E83F4-1395-818E-7CEE-37F4BE60CCF1}"/>
              </a:ext>
            </a:extLst>
          </p:cNvPr>
          <p:cNvSpPr/>
          <p:nvPr/>
        </p:nvSpPr>
        <p:spPr>
          <a:xfrm>
            <a:off x="9707673" y="5516299"/>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Best Model Selection</a:t>
            </a:r>
          </a:p>
        </p:txBody>
      </p:sp>
      <p:cxnSp>
        <p:nvCxnSpPr>
          <p:cNvPr id="9" name="Connector: Elbow 8">
            <a:extLst>
              <a:ext uri="{FF2B5EF4-FFF2-40B4-BE49-F238E27FC236}">
                <a16:creationId xmlns:a16="http://schemas.microsoft.com/office/drawing/2014/main" id="{B3C68D94-9B73-8BE3-CAD7-3558A967FFB0}"/>
              </a:ext>
            </a:extLst>
          </p:cNvPr>
          <p:cNvCxnSpPr>
            <a:endCxn id="8" idx="2"/>
          </p:cNvCxnSpPr>
          <p:nvPr/>
        </p:nvCxnSpPr>
        <p:spPr>
          <a:xfrm rot="5400000" flipH="1" flipV="1">
            <a:off x="9631420" y="4872036"/>
            <a:ext cx="106" cy="2369288"/>
          </a:xfrm>
          <a:prstGeom prst="bentConnector3">
            <a:avLst>
              <a:gd name="adj1" fmla="val -2156603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4A2B97C5-56B3-2D60-17F7-B57F6BAD91EB}"/>
              </a:ext>
            </a:extLst>
          </p:cNvPr>
          <p:cNvCxnSpPr>
            <a:cxnSpLocks/>
            <a:stCxn id="8" idx="0"/>
            <a:endCxn id="16" idx="2"/>
          </p:cNvCxnSpPr>
          <p:nvPr/>
        </p:nvCxnSpPr>
        <p:spPr>
          <a:xfrm rot="5400000" flipH="1" flipV="1">
            <a:off x="10588127" y="5223149"/>
            <a:ext cx="521141" cy="6516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8758763-9F9A-8595-0020-A356952A9B59}"/>
              </a:ext>
            </a:extLst>
          </p:cNvPr>
          <p:cNvSpPr/>
          <p:nvPr/>
        </p:nvSpPr>
        <p:spPr>
          <a:xfrm>
            <a:off x="6730816" y="2290198"/>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Processing</a:t>
            </a:r>
          </a:p>
        </p:txBody>
      </p:sp>
      <p:sp>
        <p:nvSpPr>
          <p:cNvPr id="12" name="Rectangle 11">
            <a:extLst>
              <a:ext uri="{FF2B5EF4-FFF2-40B4-BE49-F238E27FC236}">
                <a16:creationId xmlns:a16="http://schemas.microsoft.com/office/drawing/2014/main" id="{1DB79818-454D-FC91-17DE-FACC0CAD105A}"/>
              </a:ext>
            </a:extLst>
          </p:cNvPr>
          <p:cNvSpPr/>
          <p:nvPr/>
        </p:nvSpPr>
        <p:spPr>
          <a:xfrm>
            <a:off x="6730815" y="3114197"/>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Building</a:t>
            </a:r>
          </a:p>
        </p:txBody>
      </p:sp>
      <p:sp>
        <p:nvSpPr>
          <p:cNvPr id="13" name="Rectangle 12">
            <a:extLst>
              <a:ext uri="{FF2B5EF4-FFF2-40B4-BE49-F238E27FC236}">
                <a16:creationId xmlns:a16="http://schemas.microsoft.com/office/drawing/2014/main" id="{B4A0CA96-E867-4220-9394-4206C6F6BFA2}"/>
              </a:ext>
            </a:extLst>
          </p:cNvPr>
          <p:cNvSpPr/>
          <p:nvPr/>
        </p:nvSpPr>
        <p:spPr>
          <a:xfrm>
            <a:off x="6730815" y="3971321"/>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Evaluation</a:t>
            </a:r>
          </a:p>
        </p:txBody>
      </p:sp>
      <p:sp>
        <p:nvSpPr>
          <p:cNvPr id="14" name="Rectangle 13">
            <a:extLst>
              <a:ext uri="{FF2B5EF4-FFF2-40B4-BE49-F238E27FC236}">
                <a16:creationId xmlns:a16="http://schemas.microsoft.com/office/drawing/2014/main" id="{89BC914C-6EB4-9383-2703-B3B337E8974F}"/>
              </a:ext>
            </a:extLst>
          </p:cNvPr>
          <p:cNvSpPr/>
          <p:nvPr/>
        </p:nvSpPr>
        <p:spPr>
          <a:xfrm>
            <a:off x="6730815" y="4770651"/>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Tuning</a:t>
            </a:r>
          </a:p>
        </p:txBody>
      </p:sp>
      <p:sp>
        <p:nvSpPr>
          <p:cNvPr id="15" name="Rectangle 14">
            <a:extLst>
              <a:ext uri="{FF2B5EF4-FFF2-40B4-BE49-F238E27FC236}">
                <a16:creationId xmlns:a16="http://schemas.microsoft.com/office/drawing/2014/main" id="{E51E6CF1-D962-1C9E-D740-002CEBA33C7E}"/>
              </a:ext>
            </a:extLst>
          </p:cNvPr>
          <p:cNvSpPr/>
          <p:nvPr/>
        </p:nvSpPr>
        <p:spPr>
          <a:xfrm>
            <a:off x="6730815" y="5570087"/>
            <a:ext cx="2216888"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Comparison</a:t>
            </a:r>
          </a:p>
        </p:txBody>
      </p:sp>
      <p:sp>
        <p:nvSpPr>
          <p:cNvPr id="16" name="Rectangle: Rounded Corners 15">
            <a:extLst>
              <a:ext uri="{FF2B5EF4-FFF2-40B4-BE49-F238E27FC236}">
                <a16:creationId xmlns:a16="http://schemas.microsoft.com/office/drawing/2014/main" id="{4EAA8A36-ED06-EC97-F6D8-AA926CD83223}"/>
              </a:ext>
            </a:extLst>
          </p:cNvPr>
          <p:cNvSpPr/>
          <p:nvPr/>
        </p:nvSpPr>
        <p:spPr>
          <a:xfrm>
            <a:off x="10086372" y="4454830"/>
            <a:ext cx="1589809" cy="540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a:t>
            </a:r>
          </a:p>
        </p:txBody>
      </p:sp>
      <p:cxnSp>
        <p:nvCxnSpPr>
          <p:cNvPr id="17" name="Connector: Elbow 16">
            <a:extLst>
              <a:ext uri="{FF2B5EF4-FFF2-40B4-BE49-F238E27FC236}">
                <a16:creationId xmlns:a16="http://schemas.microsoft.com/office/drawing/2014/main" id="{CC9C43AB-8258-2B43-122C-2CF12BA17D01}"/>
              </a:ext>
            </a:extLst>
          </p:cNvPr>
          <p:cNvCxnSpPr>
            <a:cxnSpLocks/>
            <a:stCxn id="11" idx="2"/>
            <a:endCxn id="12" idx="0"/>
          </p:cNvCxnSpPr>
          <p:nvPr/>
        </p:nvCxnSpPr>
        <p:spPr>
          <a:xfrm rot="5400000">
            <a:off x="7697425" y="2972361"/>
            <a:ext cx="283671"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7E9F7559-1138-1390-7654-73B5ECF180DF}"/>
              </a:ext>
            </a:extLst>
          </p:cNvPr>
          <p:cNvCxnSpPr>
            <a:cxnSpLocks/>
            <a:stCxn id="12" idx="2"/>
            <a:endCxn id="13" idx="0"/>
          </p:cNvCxnSpPr>
          <p:nvPr/>
        </p:nvCxnSpPr>
        <p:spPr>
          <a:xfrm rot="5400000">
            <a:off x="7680861" y="3812923"/>
            <a:ext cx="316796"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5D6EF8C7-3A49-40DE-5B48-D8151756BCD3}"/>
              </a:ext>
            </a:extLst>
          </p:cNvPr>
          <p:cNvCxnSpPr>
            <a:stCxn id="13" idx="2"/>
            <a:endCxn id="14" idx="0"/>
          </p:cNvCxnSpPr>
          <p:nvPr/>
        </p:nvCxnSpPr>
        <p:spPr>
          <a:xfrm rot="5400000">
            <a:off x="7709758" y="4641150"/>
            <a:ext cx="259002"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3711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770011" y="1614990"/>
            <a:ext cx="10048548" cy="44105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1400" dirty="0">
                <a:solidFill>
                  <a:schemeClr val="accent3">
                    <a:lumMod val="25000"/>
                  </a:schemeClr>
                </a:solidFill>
                <a:latin typeface="Abadi" panose="020B0604020104020204" pitchFamily="34" charset="0"/>
              </a:rPr>
              <a:t>Exploratory data analysis results:</a:t>
            </a:r>
          </a:p>
          <a:p>
            <a:r>
              <a:rPr lang="en-US" sz="1400" dirty="0">
                <a:solidFill>
                  <a:schemeClr val="tx1"/>
                </a:solidFill>
                <a:latin typeface="Abadi" panose="020B0604020104020204" pitchFamily="34" charset="0"/>
              </a:rPr>
              <a:t>1. Payload Mass vs Flight Number</a:t>
            </a:r>
          </a:p>
          <a:p>
            <a:pPr lvl="1"/>
            <a:r>
              <a:rPr lang="en-US" sz="1100" dirty="0">
                <a:solidFill>
                  <a:schemeClr val="tx1"/>
                </a:solidFill>
                <a:latin typeface="Abadi" panose="020B0604020104020204" pitchFamily="34" charset="0"/>
              </a:rPr>
              <a:t>Successful landings are more frequent for launches with higher flight numbers and moderate payload mass.</a:t>
            </a:r>
          </a:p>
          <a:p>
            <a:pPr lvl="1"/>
            <a:r>
              <a:rPr lang="en-US" sz="1100" dirty="0">
                <a:solidFill>
                  <a:schemeClr val="tx1"/>
                </a:solidFill>
                <a:latin typeface="Abadi" panose="020B0604020104020204" pitchFamily="34" charset="0"/>
              </a:rPr>
              <a:t>Earlier missions (lower flight numbers) showed more failed attempts.</a:t>
            </a:r>
          </a:p>
          <a:p>
            <a:r>
              <a:rPr lang="en-US" sz="1400" dirty="0">
                <a:solidFill>
                  <a:schemeClr val="tx1"/>
                </a:solidFill>
                <a:latin typeface="Abadi" panose="020B0604020104020204" pitchFamily="34" charset="0"/>
              </a:rPr>
              <a:t> 2. Launch Site Impact</a:t>
            </a:r>
          </a:p>
          <a:p>
            <a:pPr lvl="1"/>
            <a:r>
              <a:rPr lang="en-US" sz="1100" dirty="0">
                <a:solidFill>
                  <a:schemeClr val="tx1"/>
                </a:solidFill>
                <a:latin typeface="Abadi" panose="020B0604020104020204" pitchFamily="34" charset="0"/>
              </a:rPr>
              <a:t>CCAFS SLC 40 and KSC LC 39A are major launch sites.</a:t>
            </a:r>
          </a:p>
          <a:p>
            <a:pPr lvl="1"/>
            <a:r>
              <a:rPr lang="en-US" sz="1100" dirty="0">
                <a:solidFill>
                  <a:schemeClr val="tx1"/>
                </a:solidFill>
                <a:latin typeface="Abadi" panose="020B0604020104020204" pitchFamily="34" charset="0"/>
              </a:rPr>
              <a:t>Launches from KSC LC 39A had higher success rates.</a:t>
            </a:r>
          </a:p>
          <a:p>
            <a:r>
              <a:rPr lang="en-US" sz="1400" dirty="0">
                <a:solidFill>
                  <a:schemeClr val="tx1"/>
                </a:solidFill>
                <a:latin typeface="Abadi" panose="020B0604020104020204" pitchFamily="34" charset="0"/>
              </a:rPr>
              <a:t>3. Orbit Type and Success Rate</a:t>
            </a:r>
          </a:p>
          <a:p>
            <a:pPr lvl="1"/>
            <a:r>
              <a:rPr lang="en-US" sz="1100" dirty="0">
                <a:solidFill>
                  <a:schemeClr val="tx1"/>
                </a:solidFill>
                <a:latin typeface="Abadi" panose="020B0604020104020204" pitchFamily="34" charset="0"/>
              </a:rPr>
              <a:t>LEO (Low Earth Orbit) missions had the highest success rate.</a:t>
            </a:r>
          </a:p>
          <a:p>
            <a:pPr lvl="1"/>
            <a:r>
              <a:rPr lang="en-US" sz="1100" dirty="0">
                <a:solidFill>
                  <a:schemeClr val="tx1"/>
                </a:solidFill>
                <a:latin typeface="Abadi" panose="020B0604020104020204" pitchFamily="34" charset="0"/>
              </a:rPr>
              <a:t>Orbits like GTO had lower success probabilities.</a:t>
            </a:r>
          </a:p>
          <a:p>
            <a:pPr lvl="1"/>
            <a:r>
              <a:rPr lang="en-US" sz="1100" dirty="0">
                <a:solidFill>
                  <a:schemeClr val="tx1"/>
                </a:solidFill>
                <a:latin typeface="Abadi" panose="020B0604020104020204" pitchFamily="34" charset="0"/>
              </a:rPr>
              <a:t>A bar chart of success rates grouped by orbit type was created.</a:t>
            </a:r>
          </a:p>
          <a:p>
            <a:r>
              <a:rPr lang="en-US" sz="1400" dirty="0">
                <a:solidFill>
                  <a:schemeClr val="tx1"/>
                </a:solidFill>
                <a:latin typeface="Abadi" panose="020B0604020104020204" pitchFamily="34" charset="0"/>
              </a:rPr>
              <a:t>4. Flight Number vs Orbit</a:t>
            </a:r>
          </a:p>
          <a:p>
            <a:pPr lvl="1"/>
            <a:r>
              <a:rPr lang="en-US" sz="1100" dirty="0">
                <a:solidFill>
                  <a:schemeClr val="tx1"/>
                </a:solidFill>
                <a:latin typeface="Abadi" panose="020B0604020104020204" pitchFamily="34" charset="0"/>
              </a:rPr>
              <a:t>Later missions to certain orbits (e.g., ISS, LEO) had higher success rates.</a:t>
            </a:r>
          </a:p>
          <a:p>
            <a:r>
              <a:rPr lang="en-US" sz="1400" dirty="0">
                <a:solidFill>
                  <a:schemeClr val="tx1"/>
                </a:solidFill>
                <a:latin typeface="Abadi" panose="020B0604020104020204" pitchFamily="34" charset="0"/>
              </a:rPr>
              <a:t>5. Payload Mass vs Launch Site</a:t>
            </a:r>
          </a:p>
          <a:p>
            <a:pPr lvl="1"/>
            <a:r>
              <a:rPr lang="en-US" sz="1100" dirty="0">
                <a:solidFill>
                  <a:schemeClr val="tx1"/>
                </a:solidFill>
                <a:latin typeface="Abadi" panose="020B0604020104020204" pitchFamily="34" charset="0"/>
              </a:rPr>
              <a:t>Larger payloads were often launched from KSC LC 39A.</a:t>
            </a:r>
          </a:p>
          <a:p>
            <a:pPr lvl="1"/>
            <a:r>
              <a:rPr lang="en-US" sz="1100" dirty="0">
                <a:solidFill>
                  <a:schemeClr val="tx1"/>
                </a:solidFill>
                <a:latin typeface="Abadi" panose="020B0604020104020204" pitchFamily="34" charset="0"/>
              </a:rPr>
              <a:t>Some sites rarely handled heavier payloads or complex orbits.</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lvl="1"/>
            <a:endParaRPr lang="en-US" sz="1800" dirty="0"/>
          </a:p>
          <a:p>
            <a:pPr marL="457200" lvl="1" indent="0">
              <a:buNone/>
            </a:pPr>
            <a:endParaRPr lang="en-US" sz="1800" dirty="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17</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F743C-B30F-DEAA-AED4-860B699252D0}"/>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24E7ACE8-C7D6-70BA-E18F-B3DF4EDE6326}"/>
              </a:ext>
            </a:extLst>
          </p:cNvPr>
          <p:cNvSpPr txBox="1">
            <a:spLocks/>
          </p:cNvSpPr>
          <p:nvPr/>
        </p:nvSpPr>
        <p:spPr>
          <a:xfrm>
            <a:off x="633307" y="813174"/>
            <a:ext cx="7068725" cy="59547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1600" dirty="0">
                <a:solidFill>
                  <a:schemeClr val="accent3">
                    <a:lumMod val="25000"/>
                  </a:schemeClr>
                </a:solidFill>
                <a:latin typeface="Abadi" panose="020B0604020104020204" pitchFamily="34" charset="0"/>
              </a:rPr>
              <a:t>Interactive analytics demo screenshot:</a:t>
            </a:r>
          </a:p>
          <a:p>
            <a:pPr>
              <a:lnSpc>
                <a:spcPct val="100000"/>
              </a:lnSpc>
              <a:spcBef>
                <a:spcPts val="1400"/>
              </a:spcBef>
            </a:pP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1600" dirty="0">
              <a:solidFill>
                <a:schemeClr val="accent3">
                  <a:lumMod val="25000"/>
                </a:schemeClr>
              </a:solidFill>
              <a:latin typeface="Abadi" panose="020B0604020104020204" pitchFamily="34" charset="0"/>
            </a:endParaRPr>
          </a:p>
          <a:p>
            <a:pPr marL="0" indent="0">
              <a:lnSpc>
                <a:spcPct val="100000"/>
              </a:lnSpc>
              <a:spcBef>
                <a:spcPts val="1400"/>
              </a:spcBef>
              <a:buNone/>
            </a:pPr>
            <a:r>
              <a:rPr lang="en-US" sz="1600" dirty="0">
                <a:solidFill>
                  <a:schemeClr val="accent3">
                    <a:lumMod val="25000"/>
                  </a:schemeClr>
                </a:solidFill>
                <a:latin typeface="Abadi" panose="020B0604020104020204" pitchFamily="34" charset="0"/>
              </a:rPr>
              <a:t>Predictive analysis results:</a:t>
            </a:r>
          </a:p>
          <a:p>
            <a:r>
              <a:rPr lang="en-US" sz="1400" dirty="0">
                <a:solidFill>
                  <a:schemeClr val="tx1"/>
                </a:solidFill>
                <a:latin typeface="Abadi" panose="020B0604020104020204" pitchFamily="34" charset="0"/>
              </a:rPr>
              <a:t> All models performed similarly, but SVM offered best balance of generalization and accuracy.</a:t>
            </a:r>
          </a:p>
          <a:p>
            <a:r>
              <a:rPr lang="en-US" sz="1400" dirty="0">
                <a:solidFill>
                  <a:schemeClr val="tx1"/>
                </a:solidFill>
                <a:latin typeface="Abadi" panose="020B0604020104020204" pitchFamily="34" charset="0"/>
              </a:rPr>
              <a:t>Features such as Orbit Type, Payload Mass, and Launch Site had strong predictive value.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lvl="1"/>
            <a:endParaRPr lang="en-US" sz="1800" dirty="0"/>
          </a:p>
          <a:p>
            <a:pPr marL="457200" lvl="1" indent="0">
              <a:buNone/>
            </a:pPr>
            <a:endParaRPr lang="en-US" sz="1800" dirty="0"/>
          </a:p>
        </p:txBody>
      </p:sp>
      <p:sp>
        <p:nvSpPr>
          <p:cNvPr id="4" name="Slide Number Placeholder 3">
            <a:extLst>
              <a:ext uri="{FF2B5EF4-FFF2-40B4-BE49-F238E27FC236}">
                <a16:creationId xmlns:a16="http://schemas.microsoft.com/office/drawing/2014/main" id="{A5940454-DE44-30AB-A9C3-6E2B9CB9F77A}"/>
              </a:ext>
            </a:extLst>
          </p:cNvPr>
          <p:cNvSpPr>
            <a:spLocks noGrp="1"/>
          </p:cNvSpPr>
          <p:nvPr>
            <p:ph type="sldNum" sz="quarter" idx="12"/>
          </p:nvPr>
        </p:nvSpPr>
        <p:spPr/>
        <p:txBody>
          <a:bodyPr/>
          <a:lstStyle/>
          <a:p>
            <a:fld id="{5075537C-CA84-1446-933C-8E9D027F9201}" type="slidenum">
              <a:rPr lang="en-US" smtClean="0"/>
              <a:t>18</a:t>
            </a:fld>
            <a:endParaRPr lang="en-US"/>
          </a:p>
        </p:txBody>
      </p:sp>
      <p:sp>
        <p:nvSpPr>
          <p:cNvPr id="7" name="Title 1">
            <a:extLst>
              <a:ext uri="{FF2B5EF4-FFF2-40B4-BE49-F238E27FC236}">
                <a16:creationId xmlns:a16="http://schemas.microsoft.com/office/drawing/2014/main" id="{A198E321-48DC-41A9-1807-8710A2BBFD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 Part 2</a:t>
            </a:r>
            <a:endParaRPr lang="en-US" dirty="0">
              <a:solidFill>
                <a:srgbClr val="0B49CB"/>
              </a:solidFill>
            </a:endParaRPr>
          </a:p>
        </p:txBody>
      </p:sp>
      <p:pic>
        <p:nvPicPr>
          <p:cNvPr id="3" name="Picture 2" descr="A pie chart with a pie chart and a diagram&#10;&#10;AI-generated content may be incorrect.">
            <a:extLst>
              <a:ext uri="{FF2B5EF4-FFF2-40B4-BE49-F238E27FC236}">
                <a16:creationId xmlns:a16="http://schemas.microsoft.com/office/drawing/2014/main" id="{E8CAB8B0-4CFE-7706-F900-36D0EB29E0E3}"/>
              </a:ext>
            </a:extLst>
          </p:cNvPr>
          <p:cNvPicPr>
            <a:picLocks noChangeAspect="1"/>
          </p:cNvPicPr>
          <p:nvPr/>
        </p:nvPicPr>
        <p:blipFill>
          <a:blip r:embed="rId3"/>
          <a:stretch>
            <a:fillRect/>
          </a:stretch>
        </p:blipFill>
        <p:spPr>
          <a:xfrm>
            <a:off x="5123275" y="1087699"/>
            <a:ext cx="7068725" cy="3404904"/>
          </a:xfrm>
          <a:prstGeom prst="rect">
            <a:avLst/>
          </a:prstGeom>
        </p:spPr>
      </p:pic>
    </p:spTree>
    <p:extLst>
      <p:ext uri="{BB962C8B-B14F-4D97-AF65-F5344CB8AC3E}">
        <p14:creationId xmlns:p14="http://schemas.microsoft.com/office/powerpoint/2010/main" val="792677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420613" y="2057400"/>
            <a:ext cx="10864997" cy="4668982"/>
          </a:xfrm>
          <a:prstGeom prst="rect">
            <a:avLst/>
          </a:prstGeom>
        </p:spPr>
        <p:txBody>
          <a:bodyPr>
            <a:normAutofit fontScale="55000" lnSpcReduction="20000"/>
          </a:bodyPr>
          <a:lstStyle/>
          <a:p>
            <a:pPr>
              <a:lnSpc>
                <a:spcPct val="100000"/>
              </a:lnSpc>
              <a:spcBef>
                <a:spcPts val="1400"/>
              </a:spcBef>
            </a:pPr>
            <a:r>
              <a:rPr lang="en-CA" sz="2200" dirty="0">
                <a:solidFill>
                  <a:schemeClr val="accent3">
                    <a:lumMod val="25000"/>
                  </a:schemeClr>
                </a:solidFill>
                <a:latin typeface="Abadi" panose="020B0604020104020204" pitchFamily="34" charset="0"/>
              </a:rPr>
              <a:t>Flight Number vs. Launch Site</a:t>
            </a:r>
          </a:p>
          <a:p>
            <a:pPr>
              <a:lnSpc>
                <a:spcPct val="100000"/>
              </a:lnSpc>
              <a:spcBef>
                <a:spcPts val="1400"/>
              </a:spcBef>
            </a:pPr>
            <a:endParaRPr lang="en-CA" sz="2200" dirty="0">
              <a:solidFill>
                <a:schemeClr val="accent3">
                  <a:lumMod val="25000"/>
                </a:schemeClr>
              </a:solidFill>
              <a:latin typeface="Abadi" panose="020B0604020104020204" pitchFamily="34" charset="0"/>
            </a:endParaRPr>
          </a:p>
          <a:p>
            <a:pPr>
              <a:lnSpc>
                <a:spcPct val="100000"/>
              </a:lnSpc>
              <a:spcBef>
                <a:spcPts val="1400"/>
              </a:spcBef>
            </a:pPr>
            <a:endParaRPr lang="en-CA" sz="2200" dirty="0">
              <a:solidFill>
                <a:schemeClr val="accent3">
                  <a:lumMod val="25000"/>
                </a:schemeClr>
              </a:solidFill>
              <a:latin typeface="Abadi" panose="020B0604020104020204" pitchFamily="34" charset="0"/>
            </a:endParaRPr>
          </a:p>
          <a:p>
            <a:pPr>
              <a:lnSpc>
                <a:spcPct val="100000"/>
              </a:lnSpc>
              <a:spcBef>
                <a:spcPts val="1400"/>
              </a:spcBef>
            </a:pPr>
            <a:endParaRPr lang="en-CA" sz="2200" dirty="0">
              <a:solidFill>
                <a:schemeClr val="accent3">
                  <a:lumMod val="25000"/>
                </a:schemeClr>
              </a:solidFill>
              <a:latin typeface="Abadi" panose="020B0604020104020204" pitchFamily="34" charset="0"/>
            </a:endParaRPr>
          </a:p>
          <a:p>
            <a:pPr>
              <a:lnSpc>
                <a:spcPct val="100000"/>
              </a:lnSpc>
              <a:spcBef>
                <a:spcPts val="1400"/>
              </a:spcBef>
            </a:pPr>
            <a:endParaRPr lang="en-CA"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r>
              <a:rPr lang="en-US" dirty="0"/>
              <a:t>Earlier flights (lower flight numbers) had more failures.</a:t>
            </a:r>
          </a:p>
          <a:p>
            <a:r>
              <a:rPr lang="en-US" dirty="0"/>
              <a:t>Success rate improves over time — higher flight numbers show more successful landings, especially at KSC LC 39A.</a:t>
            </a:r>
          </a:p>
          <a:p>
            <a:r>
              <a:rPr lang="en-US" dirty="0"/>
              <a:t>KSC LC 39A shows a higher proportion of successful landings.</a:t>
            </a:r>
          </a:p>
          <a:p>
            <a:r>
              <a:rPr lang="en-US" dirty="0"/>
              <a:t>CCAFS SLC 40 has a mix but leans toward more successes in later flights.</a:t>
            </a:r>
          </a:p>
          <a:p>
            <a:r>
              <a:rPr lang="en-US" dirty="0"/>
              <a:t>VAFB SLC 4E has fewer launches, but most are failures or mixed.</a:t>
            </a: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solidFill>
                  <a:srgbClr val="0B49CB"/>
                </a:solidFill>
                <a:latin typeface="Abadi"/>
              </a:rPr>
              <a:t>Flight Number vs. Launch Site</a:t>
            </a:r>
            <a:endParaRPr lang="en-US" dirty="0">
              <a:solidFill>
                <a:srgbClr val="0B49CB"/>
              </a:solidFill>
            </a:endParaRPr>
          </a:p>
        </p:txBody>
      </p:sp>
      <p:pic>
        <p:nvPicPr>
          <p:cNvPr id="9" name="Picture 8">
            <a:extLst>
              <a:ext uri="{FF2B5EF4-FFF2-40B4-BE49-F238E27FC236}">
                <a16:creationId xmlns:a16="http://schemas.microsoft.com/office/drawing/2014/main" id="{63A7C43C-3BFC-E253-BCDC-B554EC61FE3C}"/>
              </a:ext>
            </a:extLst>
          </p:cNvPr>
          <p:cNvPicPr>
            <a:picLocks noChangeAspect="1"/>
          </p:cNvPicPr>
          <p:nvPr/>
        </p:nvPicPr>
        <p:blipFill>
          <a:blip r:embed="rId3"/>
          <a:stretch>
            <a:fillRect/>
          </a:stretch>
        </p:blipFill>
        <p:spPr>
          <a:xfrm>
            <a:off x="595312" y="2442211"/>
            <a:ext cx="11001375" cy="2228850"/>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568997" y="1441051"/>
            <a:ext cx="11054967" cy="5326893"/>
          </a:xfrm>
          <a:prstGeom prst="rect">
            <a:avLst/>
          </a:prstGeom>
        </p:spPr>
        <p:txBody>
          <a:bodyPr>
            <a:normAutofit/>
          </a:bodyPr>
          <a:lstStyle/>
          <a:p>
            <a:pPr>
              <a:lnSpc>
                <a:spcPct val="100000"/>
              </a:lnSpc>
              <a:spcBef>
                <a:spcPts val="1400"/>
              </a:spcBef>
            </a:pPr>
            <a:r>
              <a:rPr lang="en-CA" sz="1300" dirty="0">
                <a:solidFill>
                  <a:schemeClr val="accent3">
                    <a:lumMod val="25000"/>
                  </a:schemeClr>
                </a:solidFill>
                <a:latin typeface="Abadi" panose="020B0604020104020204" pitchFamily="34" charset="0"/>
              </a:rPr>
              <a:t>Payload vs. Launch Site</a:t>
            </a:r>
            <a:endParaRPr lang="en-US" sz="13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r>
              <a:rPr lang="en-US" sz="1100" dirty="0"/>
              <a:t>CCAFS SLC 40: The most frequently used site. Handles a wide range of payloads (from ~0 to ~15,600 kg).Shows a balanced mix of successful and failed landings, especially in the mid-payload range (2000–6000 kg).</a:t>
            </a:r>
          </a:p>
          <a:p>
            <a:r>
              <a:rPr lang="en-US" sz="1100" dirty="0"/>
              <a:t>KSC LC 39A: Used for heavier payloads (mostly &gt; 5000 kg). High success rate, even at very high payloads (up to ~15,600 kg).</a:t>
            </a:r>
          </a:p>
          <a:p>
            <a:r>
              <a:rPr lang="en-US" sz="1100" dirty="0"/>
              <a:t>VAFB SLC 4E: Fewer launches overall. Mostly lighter payloads. Slight tendency toward more failures.</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solidFill>
                  <a:srgbClr val="0B49CB"/>
                </a:solidFill>
                <a:latin typeface="Abadi"/>
              </a:rPr>
              <a:t>Payload vs. Launch Site</a:t>
            </a:r>
            <a:endParaRPr lang="en-US" dirty="0">
              <a:solidFill>
                <a:srgbClr val="0B49CB"/>
              </a:solidFill>
              <a:latin typeface="Abadi"/>
            </a:endParaRPr>
          </a:p>
        </p:txBody>
      </p:sp>
      <p:pic>
        <p:nvPicPr>
          <p:cNvPr id="6" name="Picture 5">
            <a:extLst>
              <a:ext uri="{FF2B5EF4-FFF2-40B4-BE49-F238E27FC236}">
                <a16:creationId xmlns:a16="http://schemas.microsoft.com/office/drawing/2014/main" id="{3EC68F0E-E8EE-02EF-E041-07E2788BEBB8}"/>
              </a:ext>
            </a:extLst>
          </p:cNvPr>
          <p:cNvPicPr>
            <a:picLocks noChangeAspect="1"/>
          </p:cNvPicPr>
          <p:nvPr/>
        </p:nvPicPr>
        <p:blipFill>
          <a:blip r:embed="rId3"/>
          <a:stretch>
            <a:fillRect/>
          </a:stretch>
        </p:blipFill>
        <p:spPr>
          <a:xfrm>
            <a:off x="770011" y="2007782"/>
            <a:ext cx="11134725" cy="2181225"/>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4835" y="1335506"/>
            <a:ext cx="5063836" cy="5091706"/>
          </a:xfrm>
          <a:prstGeom prst="rect">
            <a:avLst/>
          </a:prstGeom>
        </p:spPr>
        <p:txBody>
          <a:bodyPr>
            <a:normAutofit/>
          </a:bodyPr>
          <a:lstStyle/>
          <a:p>
            <a:pPr>
              <a:lnSpc>
                <a:spcPct val="100000"/>
              </a:lnSpc>
              <a:spcBef>
                <a:spcPts val="1400"/>
              </a:spcBef>
            </a:pPr>
            <a:r>
              <a:rPr lang="en-CA" sz="2200" dirty="0">
                <a:solidFill>
                  <a:schemeClr val="accent3">
                    <a:lumMod val="25000"/>
                  </a:schemeClr>
                </a:solidFill>
                <a:latin typeface="Abadi" panose="020B0604020104020204" pitchFamily="34" charset="0"/>
              </a:rPr>
              <a:t>B</a:t>
            </a:r>
            <a:r>
              <a:rPr lang="en-US" sz="2200" dirty="0" err="1">
                <a:solidFill>
                  <a:schemeClr val="accent3">
                    <a:lumMod val="25000"/>
                  </a:schemeClr>
                </a:solidFill>
                <a:latin typeface="Abadi" panose="020B0604020104020204" pitchFamily="34" charset="0"/>
              </a:rPr>
              <a:t>ar</a:t>
            </a:r>
            <a:r>
              <a:rPr lang="en-US" sz="2200" dirty="0">
                <a:solidFill>
                  <a:schemeClr val="accent3">
                    <a:lumMod val="25000"/>
                  </a:schemeClr>
                </a:solidFill>
                <a:latin typeface="Abadi" panose="020B0604020104020204" pitchFamily="34" charset="0"/>
              </a:rPr>
              <a:t> Chart for the success rate of each orbit type: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r>
              <a:rPr lang="en-GB" sz="1400" dirty="0">
                <a:latin typeface="Abadi" panose="020B0604020104020204" pitchFamily="34" charset="0"/>
              </a:rPr>
              <a:t>Orbit Types with Highest Success Rates (100%):</a:t>
            </a:r>
          </a:p>
          <a:p>
            <a:pPr lvl="1"/>
            <a:r>
              <a:rPr lang="en-GB" sz="1000" dirty="0">
                <a:latin typeface="Abadi" panose="020B0604020104020204" pitchFamily="34" charset="0"/>
              </a:rPr>
              <a:t>ES-L1 (Earth-Sun Lagrange Point 1)</a:t>
            </a:r>
          </a:p>
          <a:p>
            <a:pPr lvl="1"/>
            <a:r>
              <a:rPr lang="en-GB" sz="1000" dirty="0">
                <a:latin typeface="Abadi" panose="020B0604020104020204" pitchFamily="34" charset="0"/>
              </a:rPr>
              <a:t>GEO (Geostationary Orbit)</a:t>
            </a:r>
          </a:p>
          <a:p>
            <a:pPr lvl="1"/>
            <a:r>
              <a:rPr lang="en-GB" sz="1000" dirty="0">
                <a:latin typeface="Abadi" panose="020B0604020104020204" pitchFamily="34" charset="0"/>
              </a:rPr>
              <a:t>HEO (Highly Elliptical Orbit)</a:t>
            </a:r>
          </a:p>
          <a:p>
            <a:pPr lvl="1"/>
            <a:r>
              <a:rPr lang="en-GB" sz="1000" dirty="0">
                <a:latin typeface="Abadi" panose="020B0604020104020204" pitchFamily="34" charset="0"/>
              </a:rPr>
              <a:t>SSO (Sun-Synchronous Orbit)</a:t>
            </a:r>
          </a:p>
          <a:p>
            <a:r>
              <a:rPr lang="en-GB" sz="1400" dirty="0">
                <a:latin typeface="Abadi" panose="020B0604020104020204" pitchFamily="34" charset="0"/>
              </a:rPr>
              <a:t>Lower Success Rates</a:t>
            </a:r>
          </a:p>
          <a:p>
            <a:pPr lvl="1"/>
            <a:r>
              <a:rPr lang="en-GB" sz="1000" dirty="0">
                <a:latin typeface="Abadi" panose="020B0604020104020204" pitchFamily="34" charset="0"/>
              </a:rPr>
              <a:t>GTO (Geostationary Transfer Orbit): ~52%</a:t>
            </a:r>
          </a:p>
          <a:p>
            <a:pPr lvl="1"/>
            <a:r>
              <a:rPr lang="en-US" sz="1000" dirty="0">
                <a:latin typeface="Abadi" panose="020B0604020104020204" pitchFamily="34" charset="0"/>
              </a:rPr>
              <a:t>ISS and LEO: ~60–70%</a:t>
            </a:r>
          </a:p>
          <a:p>
            <a:pPr lvl="1"/>
            <a:endParaRPr lang="en-US" sz="1000" dirty="0">
              <a:solidFill>
                <a:schemeClr val="accent3">
                  <a:lumMod val="25000"/>
                </a:schemeClr>
              </a:solidFill>
              <a:latin typeface="Abadi" panose="020B0604020104020204" pitchFamily="34" charset="0"/>
            </a:endParaRPr>
          </a:p>
          <a:p>
            <a:pPr lvl="1"/>
            <a:endParaRPr lang="en-US" sz="10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6" name="Picture 5">
            <a:extLst>
              <a:ext uri="{FF2B5EF4-FFF2-40B4-BE49-F238E27FC236}">
                <a16:creationId xmlns:a16="http://schemas.microsoft.com/office/drawing/2014/main" id="{BC1E1BEF-F22D-DC7A-1EF9-1FFFE31793BB}"/>
              </a:ext>
            </a:extLst>
          </p:cNvPr>
          <p:cNvPicPr>
            <a:picLocks noChangeAspect="1"/>
          </p:cNvPicPr>
          <p:nvPr/>
        </p:nvPicPr>
        <p:blipFill>
          <a:blip r:embed="rId3"/>
          <a:stretch>
            <a:fillRect/>
          </a:stretch>
        </p:blipFill>
        <p:spPr>
          <a:xfrm>
            <a:off x="5138671" y="1565717"/>
            <a:ext cx="6605290" cy="4861494"/>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0" y="2069756"/>
            <a:ext cx="10911127" cy="4788244"/>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Flight number vs. Orbit type</a:t>
            </a:r>
          </a:p>
          <a:p>
            <a:pPr>
              <a:lnSpc>
                <a:spcPct val="100000"/>
              </a:lnSpc>
              <a:spcBef>
                <a:spcPts val="1400"/>
              </a:spcBef>
            </a:pPr>
            <a:endParaRPr lang="en-US" sz="1400" dirty="0">
              <a:solidFill>
                <a:schemeClr val="accent3">
                  <a:lumMod val="25000"/>
                </a:schemeClr>
              </a:solidFill>
              <a:latin typeface="Abadi" panose="020B0604020104020204" pitchFamily="34" charset="0"/>
            </a:endParaRPr>
          </a:p>
          <a:p>
            <a:pPr>
              <a:lnSpc>
                <a:spcPct val="100000"/>
              </a:lnSpc>
              <a:spcBef>
                <a:spcPts val="1400"/>
              </a:spcBef>
            </a:pPr>
            <a:endParaRPr lang="en-US" sz="1400" dirty="0">
              <a:solidFill>
                <a:schemeClr val="accent3">
                  <a:lumMod val="25000"/>
                </a:schemeClr>
              </a:solidFill>
              <a:latin typeface="Abadi" panose="020B0604020104020204" pitchFamily="34" charset="0"/>
            </a:endParaRPr>
          </a:p>
          <a:p>
            <a:pPr>
              <a:lnSpc>
                <a:spcPct val="100000"/>
              </a:lnSpc>
              <a:spcBef>
                <a:spcPts val="1400"/>
              </a:spcBef>
            </a:pPr>
            <a:endParaRPr lang="en-US" sz="1400" dirty="0">
              <a:solidFill>
                <a:schemeClr val="accent3">
                  <a:lumMod val="25000"/>
                </a:schemeClr>
              </a:solidFill>
              <a:latin typeface="Abadi" panose="020B0604020104020204" pitchFamily="34" charset="0"/>
            </a:endParaRPr>
          </a:p>
          <a:p>
            <a:pPr>
              <a:lnSpc>
                <a:spcPct val="100000"/>
              </a:lnSpc>
              <a:spcBef>
                <a:spcPts val="1400"/>
              </a:spcBef>
            </a:pPr>
            <a:endParaRPr lang="en-US" sz="1400" dirty="0">
              <a:solidFill>
                <a:schemeClr val="accent3">
                  <a:lumMod val="25000"/>
                </a:schemeClr>
              </a:solidFill>
              <a:latin typeface="Abadi" panose="020B0604020104020204" pitchFamily="34" charset="0"/>
            </a:endParaRPr>
          </a:p>
          <a:p>
            <a:pPr>
              <a:lnSpc>
                <a:spcPct val="100000"/>
              </a:lnSpc>
              <a:spcBef>
                <a:spcPts val="1400"/>
              </a:spcBef>
            </a:pPr>
            <a:endParaRPr lang="en-US" sz="1100" dirty="0">
              <a:solidFill>
                <a:schemeClr val="accent3">
                  <a:lumMod val="25000"/>
                </a:schemeClr>
              </a:solidFill>
              <a:latin typeface="Abadi" panose="020B0604020104020204" pitchFamily="34" charset="0"/>
            </a:endParaRPr>
          </a:p>
          <a:p>
            <a:pPr>
              <a:lnSpc>
                <a:spcPct val="100000"/>
              </a:lnSpc>
              <a:spcBef>
                <a:spcPts val="1400"/>
              </a:spcBef>
            </a:pPr>
            <a:endParaRPr lang="en-US" sz="1100" dirty="0">
              <a:solidFill>
                <a:schemeClr val="accent3">
                  <a:lumMod val="25000"/>
                </a:schemeClr>
              </a:solidFill>
              <a:latin typeface="Abadi" panose="020B0604020104020204" pitchFamily="34" charset="0"/>
            </a:endParaRPr>
          </a:p>
          <a:p>
            <a:pPr>
              <a:lnSpc>
                <a:spcPct val="100000"/>
              </a:lnSpc>
              <a:spcBef>
                <a:spcPts val="1400"/>
              </a:spcBef>
            </a:pPr>
            <a:endParaRPr lang="en-US" sz="1100" dirty="0">
              <a:solidFill>
                <a:schemeClr val="accent3">
                  <a:lumMod val="25000"/>
                </a:schemeClr>
              </a:solidFill>
              <a:latin typeface="Abadi" panose="020B0604020104020204" pitchFamily="34" charset="0"/>
            </a:endParaRPr>
          </a:p>
          <a:p>
            <a:r>
              <a:rPr lang="en-US" sz="1600" dirty="0">
                <a:latin typeface="Abadi" panose="020B0604020104020204" pitchFamily="34" charset="0"/>
              </a:rPr>
              <a:t>Early flights (Flight Numbers &lt; 20):</a:t>
            </a:r>
          </a:p>
          <a:p>
            <a:pPr lvl="1"/>
            <a:r>
              <a:rPr lang="en-US" sz="1200" dirty="0">
                <a:latin typeface="Abadi" panose="020B0604020104020204" pitchFamily="34" charset="0"/>
              </a:rPr>
              <a:t>More failures (blue dots), especially in GTO and PO orbits.</a:t>
            </a:r>
          </a:p>
          <a:p>
            <a:r>
              <a:rPr lang="en-US" sz="1600" dirty="0">
                <a:latin typeface="Abadi" panose="020B0604020104020204" pitchFamily="34" charset="0"/>
              </a:rPr>
              <a:t>Later flights (Flight Numbers &gt; 40):</a:t>
            </a:r>
          </a:p>
          <a:p>
            <a:pPr lvl="1"/>
            <a:r>
              <a:rPr lang="en-US" sz="1200" dirty="0">
                <a:latin typeface="Abadi" panose="020B0604020104020204" pitchFamily="34" charset="0"/>
              </a:rPr>
              <a:t>More consistent success (orange dots), regardless of orbit type.</a:t>
            </a:r>
          </a:p>
          <a:p>
            <a:pPr lvl="1"/>
            <a:r>
              <a:rPr lang="en-US" sz="1200" dirty="0">
                <a:latin typeface="Abadi" panose="020B0604020104020204" pitchFamily="34" charset="0"/>
              </a:rPr>
              <a:t>Shows improved technology, better landing techniques, or refined booster systems.</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pic>
        <p:nvPicPr>
          <p:cNvPr id="6" name="Picture 5">
            <a:extLst>
              <a:ext uri="{FF2B5EF4-FFF2-40B4-BE49-F238E27FC236}">
                <a16:creationId xmlns:a16="http://schemas.microsoft.com/office/drawing/2014/main" id="{5AFF0EBC-7DFB-2CB3-6F9E-14E25E677008}"/>
              </a:ext>
            </a:extLst>
          </p:cNvPr>
          <p:cNvPicPr>
            <a:picLocks noChangeAspect="1"/>
          </p:cNvPicPr>
          <p:nvPr/>
        </p:nvPicPr>
        <p:blipFill>
          <a:blip r:embed="rId3"/>
          <a:stretch>
            <a:fillRect/>
          </a:stretch>
        </p:blipFill>
        <p:spPr>
          <a:xfrm>
            <a:off x="770011" y="2744037"/>
            <a:ext cx="11029950" cy="2171700"/>
          </a:xfrm>
          <a:prstGeom prst="rect">
            <a:avLst/>
          </a:prstGeom>
        </p:spPr>
      </p:pic>
    </p:spTree>
    <p:extLst>
      <p:ext uri="{BB962C8B-B14F-4D97-AF65-F5344CB8AC3E}">
        <p14:creationId xmlns:p14="http://schemas.microsoft.com/office/powerpoint/2010/main" val="1106727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0" y="1419726"/>
            <a:ext cx="11091431" cy="5209674"/>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Payload Mass vs. Orbit Type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r>
              <a:rPr lang="en-US" sz="1600" dirty="0">
                <a:latin typeface="Abadi" panose="020B0604020104020204" pitchFamily="34" charset="0"/>
              </a:rPr>
              <a:t>Success is not determined by payload mass, heavy payloads can succeed if the mission is well-prepared.</a:t>
            </a:r>
          </a:p>
          <a:p>
            <a:r>
              <a:rPr lang="en-US" sz="1600" dirty="0">
                <a:latin typeface="Abadi" panose="020B0604020104020204" pitchFamily="34" charset="0"/>
              </a:rPr>
              <a:t>Orbit type plays a crucial role, especially GTO, which is more failure-prone despite moderate payloads.</a:t>
            </a:r>
          </a:p>
          <a:p>
            <a:r>
              <a:rPr lang="en-US" sz="1600" dirty="0">
                <a:latin typeface="Abadi" panose="020B0604020104020204" pitchFamily="34" charset="0"/>
              </a:rPr>
              <a:t>Missions with very large payloads tend to be carefully planned and have high success rates.</a:t>
            </a: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pic>
        <p:nvPicPr>
          <p:cNvPr id="7" name="Picture 6" descr="A white background with black lines and orange dots&#10;&#10;AI-generated content may be incorrect.">
            <a:extLst>
              <a:ext uri="{FF2B5EF4-FFF2-40B4-BE49-F238E27FC236}">
                <a16:creationId xmlns:a16="http://schemas.microsoft.com/office/drawing/2014/main" id="{5F6382F5-55A8-CDDC-0E69-66C17C6795AB}"/>
              </a:ext>
            </a:extLst>
          </p:cNvPr>
          <p:cNvPicPr/>
          <p:nvPr/>
        </p:nvPicPr>
        <p:blipFill>
          <a:blip r:embed="rId3"/>
          <a:stretch>
            <a:fillRect/>
          </a:stretch>
        </p:blipFill>
        <p:spPr>
          <a:xfrm>
            <a:off x="902267" y="2373919"/>
            <a:ext cx="9184105" cy="2110162"/>
          </a:xfrm>
          <a:prstGeom prst="rect">
            <a:avLst/>
          </a:prstGeom>
          <a:noFill/>
          <a:ln>
            <a:noFill/>
            <a:prstDash/>
          </a:ln>
        </p:spPr>
      </p:pic>
    </p:spTree>
    <p:extLst>
      <p:ext uri="{BB962C8B-B14F-4D97-AF65-F5344CB8AC3E}">
        <p14:creationId xmlns:p14="http://schemas.microsoft.com/office/powerpoint/2010/main" val="3145340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1618995"/>
            <a:ext cx="3814869" cy="4808215"/>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Yearly Average Success Rate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Average Success Rate increases substantially on a yearly basis with the exception of 2018 where success rate dropped from 80% to 60%.</a:t>
            </a: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pic>
        <p:nvPicPr>
          <p:cNvPr id="6" name="Picture 5">
            <a:extLst>
              <a:ext uri="{FF2B5EF4-FFF2-40B4-BE49-F238E27FC236}">
                <a16:creationId xmlns:a16="http://schemas.microsoft.com/office/drawing/2014/main" id="{5BF352DF-05CE-ED62-0734-259181839314}"/>
              </a:ext>
            </a:extLst>
          </p:cNvPr>
          <p:cNvPicPr>
            <a:picLocks noChangeAspect="1"/>
          </p:cNvPicPr>
          <p:nvPr/>
        </p:nvPicPr>
        <p:blipFill>
          <a:blip r:embed="rId3"/>
          <a:stretch>
            <a:fillRect/>
          </a:stretch>
        </p:blipFill>
        <p:spPr>
          <a:xfrm>
            <a:off x="5120891" y="1781916"/>
            <a:ext cx="6624641" cy="4182482"/>
          </a:xfrm>
          <a:prstGeom prst="rect">
            <a:avLst/>
          </a:prstGeom>
        </p:spPr>
      </p:pic>
    </p:spTree>
    <p:extLst>
      <p:ext uri="{BB962C8B-B14F-4D97-AF65-F5344CB8AC3E}">
        <p14:creationId xmlns:p14="http://schemas.microsoft.com/office/powerpoint/2010/main" val="706594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36511"/>
            <a:ext cx="9745589" cy="4760232"/>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Find the names of the unique launch sites</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Used ‘distinct’ keyword to only display unique launch sites</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pic>
        <p:nvPicPr>
          <p:cNvPr id="6" name="Picture 5">
            <a:extLst>
              <a:ext uri="{FF2B5EF4-FFF2-40B4-BE49-F238E27FC236}">
                <a16:creationId xmlns:a16="http://schemas.microsoft.com/office/drawing/2014/main" id="{8E9C1CFA-011D-549A-F5AB-3B0D476C09CF}"/>
              </a:ext>
            </a:extLst>
          </p:cNvPr>
          <p:cNvPicPr>
            <a:picLocks noChangeAspect="1"/>
          </p:cNvPicPr>
          <p:nvPr/>
        </p:nvPicPr>
        <p:blipFill>
          <a:blip r:embed="rId3"/>
          <a:stretch>
            <a:fillRect/>
          </a:stretch>
        </p:blipFill>
        <p:spPr>
          <a:xfrm>
            <a:off x="916441" y="2351314"/>
            <a:ext cx="4829175" cy="2895600"/>
          </a:xfrm>
          <a:prstGeom prst="rect">
            <a:avLst/>
          </a:prstGeom>
        </p:spPr>
      </p:pic>
    </p:spTree>
    <p:extLst>
      <p:ext uri="{BB962C8B-B14F-4D97-AF65-F5344CB8AC3E}">
        <p14:creationId xmlns:p14="http://schemas.microsoft.com/office/powerpoint/2010/main" val="2727850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Find 5 records where launch sites begin with `CCA</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Used keyword ‘like’ %CCA% to display launch sites that have ‘CCA’ in the name</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pic>
        <p:nvPicPr>
          <p:cNvPr id="2" name="Picture 1" descr="A screenshot of a computer&#10;&#10;AI-generated content may be incorrect.">
            <a:extLst>
              <a:ext uri="{FF2B5EF4-FFF2-40B4-BE49-F238E27FC236}">
                <a16:creationId xmlns:a16="http://schemas.microsoft.com/office/drawing/2014/main" id="{F762201C-2EF8-63A6-DCE4-55D6B85D7D4B}"/>
              </a:ext>
            </a:extLst>
          </p:cNvPr>
          <p:cNvPicPr/>
          <p:nvPr/>
        </p:nvPicPr>
        <p:blipFill>
          <a:blip r:embed="rId3"/>
          <a:stretch>
            <a:fillRect/>
          </a:stretch>
        </p:blipFill>
        <p:spPr>
          <a:xfrm>
            <a:off x="770011" y="2336904"/>
            <a:ext cx="7991117" cy="1832098"/>
          </a:xfrm>
          <a:prstGeom prst="rect">
            <a:avLst/>
          </a:prstGeom>
          <a:noFill/>
          <a:ln>
            <a:noFill/>
            <a:prstDash/>
          </a:ln>
        </p:spPr>
      </p:pic>
    </p:spTree>
    <p:extLst>
      <p:ext uri="{BB962C8B-B14F-4D97-AF65-F5344CB8AC3E}">
        <p14:creationId xmlns:p14="http://schemas.microsoft.com/office/powerpoint/2010/main" val="1794738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Calculate the total payload carried by boosters from NASA</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Calculated total using ‘sum’ function of all payloads carried by ‘NASA’</a:t>
            </a: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pic>
        <p:nvPicPr>
          <p:cNvPr id="2" name="Picture 1" descr="A screenshot of a computer&#10;&#10;AI-generated content may be incorrect.">
            <a:extLst>
              <a:ext uri="{FF2B5EF4-FFF2-40B4-BE49-F238E27FC236}">
                <a16:creationId xmlns:a16="http://schemas.microsoft.com/office/drawing/2014/main" id="{F5EBD1A5-8C57-71B9-DD97-0C9B18CB00CE}"/>
              </a:ext>
            </a:extLst>
          </p:cNvPr>
          <p:cNvPicPr/>
          <p:nvPr/>
        </p:nvPicPr>
        <p:blipFill>
          <a:blip r:embed="rId3"/>
          <a:stretch>
            <a:fillRect/>
          </a:stretch>
        </p:blipFill>
        <p:spPr>
          <a:xfrm>
            <a:off x="1082962" y="2430145"/>
            <a:ext cx="7498329" cy="1696378"/>
          </a:xfrm>
          <a:prstGeom prst="rect">
            <a:avLst/>
          </a:prstGeom>
          <a:noFill/>
          <a:ln>
            <a:noFill/>
            <a:prstDash/>
          </a:ln>
        </p:spPr>
      </p:pic>
    </p:spTree>
    <p:extLst>
      <p:ext uri="{BB962C8B-B14F-4D97-AF65-F5344CB8AC3E}">
        <p14:creationId xmlns:p14="http://schemas.microsoft.com/office/powerpoint/2010/main" val="4010014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Calculate the average payload mass carried by booster version F9 v1.1</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Used ‘avg’ function to calculate average payload mass and keywords ‘where’ and ‘like’ to only include booster version F9 v1.1 in calculation</a:t>
            </a: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pic>
        <p:nvPicPr>
          <p:cNvPr id="2" name="Picture 1">
            <a:extLst>
              <a:ext uri="{FF2B5EF4-FFF2-40B4-BE49-F238E27FC236}">
                <a16:creationId xmlns:a16="http://schemas.microsoft.com/office/drawing/2014/main" id="{E4DB513B-4948-B24E-B27C-AE8C65971321}"/>
              </a:ext>
            </a:extLst>
          </p:cNvPr>
          <p:cNvPicPr/>
          <p:nvPr/>
        </p:nvPicPr>
        <p:blipFill>
          <a:blip r:embed="rId3"/>
          <a:stretch>
            <a:fillRect/>
          </a:stretch>
        </p:blipFill>
        <p:spPr>
          <a:xfrm>
            <a:off x="770009" y="2310032"/>
            <a:ext cx="8620175" cy="1605476"/>
          </a:xfrm>
          <a:prstGeom prst="rect">
            <a:avLst/>
          </a:prstGeom>
          <a:noFill/>
          <a:ln>
            <a:noFill/>
            <a:prstDash/>
          </a:ln>
        </p:spPr>
      </p:pic>
    </p:spTree>
    <p:extLst>
      <p:ext uri="{BB962C8B-B14F-4D97-AF65-F5344CB8AC3E}">
        <p14:creationId xmlns:p14="http://schemas.microsoft.com/office/powerpoint/2010/main" val="2735560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Find the dates of the first successful landing outcome on ground pad</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dirty="0">
              <a:solidFill>
                <a:schemeClr val="accent3">
                  <a:lumMod val="25000"/>
                </a:schemeClr>
              </a:solidFill>
            </a:endParaRPr>
          </a:p>
          <a:p>
            <a:pPr>
              <a:lnSpc>
                <a:spcPct val="100000"/>
              </a:lnSpc>
              <a:spcBef>
                <a:spcPts val="1400"/>
              </a:spcBef>
            </a:pPr>
            <a:r>
              <a:rPr lang="en-US" sz="2200" dirty="0">
                <a:solidFill>
                  <a:schemeClr val="accent3">
                    <a:lumMod val="25000"/>
                  </a:schemeClr>
                </a:solidFill>
                <a:latin typeface="Abadi" panose="020B0604020104020204" pitchFamily="34" charset="0"/>
              </a:rPr>
              <a:t>Used keyword ‘order by’ and ‘</a:t>
            </a:r>
            <a:r>
              <a:rPr lang="en-US" sz="2200" dirty="0" err="1">
                <a:solidFill>
                  <a:schemeClr val="accent3">
                    <a:lumMod val="25000"/>
                  </a:schemeClr>
                </a:solidFill>
                <a:latin typeface="Abadi" panose="020B0604020104020204" pitchFamily="34" charset="0"/>
              </a:rPr>
              <a:t>asc</a:t>
            </a:r>
            <a:r>
              <a:rPr lang="en-US" sz="2200" dirty="0">
                <a:solidFill>
                  <a:schemeClr val="accent3">
                    <a:lumMod val="25000"/>
                  </a:schemeClr>
                </a:solidFill>
                <a:latin typeface="Abadi" panose="020B0604020104020204" pitchFamily="34" charset="0"/>
              </a:rPr>
              <a:t> limit 1’ to order list of successful landing outcomes by time, only displaying the first result</a:t>
            </a: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pic>
        <p:nvPicPr>
          <p:cNvPr id="2" name="Picture 1" descr="A screenshot of a phone&#10;&#10;AI-generated content may be incorrect.">
            <a:extLst>
              <a:ext uri="{FF2B5EF4-FFF2-40B4-BE49-F238E27FC236}">
                <a16:creationId xmlns:a16="http://schemas.microsoft.com/office/drawing/2014/main" id="{4071C718-348D-3D4C-BC3A-5BF722128EFF}"/>
              </a:ext>
            </a:extLst>
          </p:cNvPr>
          <p:cNvPicPr/>
          <p:nvPr/>
        </p:nvPicPr>
        <p:blipFill>
          <a:blip r:embed="rId3"/>
          <a:stretch>
            <a:fillRect/>
          </a:stretch>
        </p:blipFill>
        <p:spPr>
          <a:xfrm>
            <a:off x="770010" y="2473496"/>
            <a:ext cx="8983590" cy="1606135"/>
          </a:xfrm>
          <a:prstGeom prst="rect">
            <a:avLst/>
          </a:prstGeom>
          <a:noFill/>
          <a:ln>
            <a:noFill/>
            <a:prstDash/>
          </a:ln>
        </p:spPr>
      </p:pic>
    </p:spTree>
    <p:extLst>
      <p:ext uri="{BB962C8B-B14F-4D97-AF65-F5344CB8AC3E}">
        <p14:creationId xmlns:p14="http://schemas.microsoft.com/office/powerpoint/2010/main" val="1434679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List the names of boosters which have successfully landed on drone ship and had payload mass greater than 4000 but less than 6000</a:t>
            </a: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Used keyword ‘where’ to group landings by ‘landing outcome’ and ‘payload mass’</a:t>
            </a: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pic>
        <p:nvPicPr>
          <p:cNvPr id="2" name="Picture 1" descr="A screenshot of a computer&#10;&#10;AI-generated content may be incorrect.">
            <a:extLst>
              <a:ext uri="{FF2B5EF4-FFF2-40B4-BE49-F238E27FC236}">
                <a16:creationId xmlns:a16="http://schemas.microsoft.com/office/drawing/2014/main" id="{B76887DA-1D0C-A801-F013-1E90E7C30520}"/>
              </a:ext>
            </a:extLst>
          </p:cNvPr>
          <p:cNvPicPr/>
          <p:nvPr/>
        </p:nvPicPr>
        <p:blipFill>
          <a:blip r:embed="rId3"/>
          <a:stretch>
            <a:fillRect/>
          </a:stretch>
        </p:blipFill>
        <p:spPr>
          <a:xfrm>
            <a:off x="890325" y="2870932"/>
            <a:ext cx="9745588" cy="2170299"/>
          </a:xfrm>
          <a:prstGeom prst="rect">
            <a:avLst/>
          </a:prstGeom>
          <a:noFill/>
          <a:ln>
            <a:noFill/>
            <a:prstDash/>
          </a:ln>
        </p:spPr>
      </p:pic>
    </p:spTree>
    <p:extLst>
      <p:ext uri="{BB962C8B-B14F-4D97-AF65-F5344CB8AC3E}">
        <p14:creationId xmlns:p14="http://schemas.microsoft.com/office/powerpoint/2010/main" val="639399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936122"/>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Calculate the total number of successful and failure mission outcomes</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Used ‘count(*)’ to calculate total landings grouping by ‘mission outcomes’</a:t>
            </a: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pic>
        <p:nvPicPr>
          <p:cNvPr id="2" name="Picture 1" descr="A screenshot of a computer&#10;&#10;AI-generated content may be incorrect.">
            <a:extLst>
              <a:ext uri="{FF2B5EF4-FFF2-40B4-BE49-F238E27FC236}">
                <a16:creationId xmlns:a16="http://schemas.microsoft.com/office/drawing/2014/main" id="{0D23661F-7DAA-0AA4-E645-23272CC78306}"/>
              </a:ext>
            </a:extLst>
          </p:cNvPr>
          <p:cNvPicPr/>
          <p:nvPr/>
        </p:nvPicPr>
        <p:blipFill>
          <a:blip r:embed="rId3"/>
          <a:stretch>
            <a:fillRect/>
          </a:stretch>
        </p:blipFill>
        <p:spPr>
          <a:xfrm>
            <a:off x="1371589" y="2360725"/>
            <a:ext cx="7797410" cy="3129748"/>
          </a:xfrm>
          <a:prstGeom prst="rect">
            <a:avLst/>
          </a:prstGeom>
          <a:noFill/>
          <a:ln>
            <a:noFill/>
            <a:prstDash/>
          </a:ln>
        </p:spPr>
      </p:pic>
    </p:spTree>
    <p:extLst>
      <p:ext uri="{BB962C8B-B14F-4D97-AF65-F5344CB8AC3E}">
        <p14:creationId xmlns:p14="http://schemas.microsoft.com/office/powerpoint/2010/main" val="1756972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List the names of the booster which have carried the maximum payload mass</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pic>
        <p:nvPicPr>
          <p:cNvPr id="2" name="Picture 1" descr="A screenshot of a computer&#10;&#10;AI-generated content may be incorrect.">
            <a:extLst>
              <a:ext uri="{FF2B5EF4-FFF2-40B4-BE49-F238E27FC236}">
                <a16:creationId xmlns:a16="http://schemas.microsoft.com/office/drawing/2014/main" id="{B8A40A00-A8FF-886C-B546-879FA3BD3231}"/>
              </a:ext>
            </a:extLst>
          </p:cNvPr>
          <p:cNvPicPr/>
          <p:nvPr/>
        </p:nvPicPr>
        <p:blipFill>
          <a:blip r:embed="rId3"/>
          <a:stretch>
            <a:fillRect/>
          </a:stretch>
        </p:blipFill>
        <p:spPr>
          <a:xfrm>
            <a:off x="1676401" y="2442412"/>
            <a:ext cx="8057146" cy="3734552"/>
          </a:xfrm>
          <a:prstGeom prst="rect">
            <a:avLst/>
          </a:prstGeom>
          <a:noFill/>
          <a:ln>
            <a:noFill/>
            <a:prstDash/>
          </a:ln>
        </p:spPr>
      </p:pic>
    </p:spTree>
    <p:extLst>
      <p:ext uri="{BB962C8B-B14F-4D97-AF65-F5344CB8AC3E}">
        <p14:creationId xmlns:p14="http://schemas.microsoft.com/office/powerpoint/2010/main" val="3566646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34</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List the failed </a:t>
            </a:r>
            <a:r>
              <a:rPr lang="en-US" sz="2200" dirty="0" err="1">
                <a:solidFill>
                  <a:schemeClr val="accent3">
                    <a:lumMod val="25000"/>
                  </a:schemeClr>
                </a:solidFill>
                <a:latin typeface="Abadi"/>
              </a:rPr>
              <a:t>landing_outcomes</a:t>
            </a:r>
            <a:r>
              <a:rPr lang="en-US" sz="2200" dirty="0">
                <a:solidFill>
                  <a:schemeClr val="accent3">
                    <a:lumMod val="25000"/>
                  </a:schemeClr>
                </a:solidFill>
                <a:latin typeface="Abadi"/>
              </a:rPr>
              <a:t> in drone ship, their booster versions, and launch site names for in year 2015</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pic>
        <p:nvPicPr>
          <p:cNvPr id="2" name="Picture 1" descr="A screenshot of a computer&#10;&#10;AI-generated content may be incorrect.">
            <a:extLst>
              <a:ext uri="{FF2B5EF4-FFF2-40B4-BE49-F238E27FC236}">
                <a16:creationId xmlns:a16="http://schemas.microsoft.com/office/drawing/2014/main" id="{21E466E0-61D0-20AB-6FB0-B08831737CBE}"/>
              </a:ext>
            </a:extLst>
          </p:cNvPr>
          <p:cNvPicPr/>
          <p:nvPr/>
        </p:nvPicPr>
        <p:blipFill>
          <a:blip r:embed="rId3"/>
          <a:stretch>
            <a:fillRect/>
          </a:stretch>
        </p:blipFill>
        <p:spPr>
          <a:xfrm>
            <a:off x="770010" y="2902654"/>
            <a:ext cx="7761247" cy="2583746"/>
          </a:xfrm>
          <a:prstGeom prst="rect">
            <a:avLst/>
          </a:prstGeom>
          <a:noFill/>
          <a:ln>
            <a:noFill/>
            <a:prstDash/>
          </a:ln>
        </p:spPr>
      </p:pic>
    </p:spTree>
    <p:extLst>
      <p:ext uri="{BB962C8B-B14F-4D97-AF65-F5344CB8AC3E}">
        <p14:creationId xmlns:p14="http://schemas.microsoft.com/office/powerpoint/2010/main" val="1398439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35</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Rank the count of landing outcomes (such as Failure (drone ship) or Success (ground pad)) between the date 2010-06-04 and 2017-03-20, in descending order</a:t>
            </a:r>
          </a:p>
          <a:p>
            <a:pPr>
              <a:lnSpc>
                <a:spcPct val="100000"/>
              </a:lnSpc>
              <a:spcBef>
                <a:spcPts val="1400"/>
              </a:spcBef>
            </a:pPr>
            <a:endParaRPr lang="en-US" sz="2200"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pic>
        <p:nvPicPr>
          <p:cNvPr id="2" name="Picture 1">
            <a:extLst>
              <a:ext uri="{FF2B5EF4-FFF2-40B4-BE49-F238E27FC236}">
                <a16:creationId xmlns:a16="http://schemas.microsoft.com/office/drawing/2014/main" id="{8DB3574F-F7C0-FDFF-8827-2F39A2AEF8AA}"/>
              </a:ext>
            </a:extLst>
          </p:cNvPr>
          <p:cNvPicPr/>
          <p:nvPr/>
        </p:nvPicPr>
        <p:blipFill>
          <a:blip r:embed="rId3"/>
          <a:stretch>
            <a:fillRect/>
          </a:stretch>
        </p:blipFill>
        <p:spPr>
          <a:xfrm>
            <a:off x="2162666" y="3051493"/>
            <a:ext cx="6552106" cy="3375718"/>
          </a:xfrm>
          <a:prstGeom prst="rect">
            <a:avLst/>
          </a:prstGeom>
          <a:noFill/>
          <a:ln>
            <a:noFill/>
            <a:prstDash/>
          </a:ln>
        </p:spPr>
      </p:pic>
    </p:spTree>
    <p:extLst>
      <p:ext uri="{BB962C8B-B14F-4D97-AF65-F5344CB8AC3E}">
        <p14:creationId xmlns:p14="http://schemas.microsoft.com/office/powerpoint/2010/main" val="3975168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650741" y="1354813"/>
            <a:ext cx="11501349" cy="1947289"/>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Screenshot of Data Launch Sites below</a:t>
            </a:r>
          </a:p>
          <a:p>
            <a:pPr>
              <a:lnSpc>
                <a:spcPct val="100000"/>
              </a:lnSpc>
              <a:spcBef>
                <a:spcPts val="1400"/>
              </a:spcBef>
            </a:pPr>
            <a:r>
              <a:rPr lang="en-US" sz="2200" dirty="0">
                <a:solidFill>
                  <a:schemeClr val="accent3">
                    <a:lumMod val="25000"/>
                  </a:schemeClr>
                </a:solidFill>
                <a:latin typeface="Abadi"/>
              </a:rPr>
              <a:t>All launch sites are near the coast and as close as possible to the equator line within the United States territory.</a:t>
            </a:r>
          </a:p>
          <a:p>
            <a:endParaRPr lang="en-US" dirty="0"/>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650741" y="562389"/>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Marking Launch Sites on Folium</a:t>
            </a:r>
          </a:p>
        </p:txBody>
      </p:sp>
      <p:pic>
        <p:nvPicPr>
          <p:cNvPr id="7" name="Picture 6" descr="A map of the united states&#10;&#10;AI-generated content may be incorrect.">
            <a:extLst>
              <a:ext uri="{FF2B5EF4-FFF2-40B4-BE49-F238E27FC236}">
                <a16:creationId xmlns:a16="http://schemas.microsoft.com/office/drawing/2014/main" id="{59CFB557-E122-F1B0-230A-3BE57E93072A}"/>
              </a:ext>
            </a:extLst>
          </p:cNvPr>
          <p:cNvPicPr/>
          <p:nvPr/>
        </p:nvPicPr>
        <p:blipFill>
          <a:blip r:embed="rId3"/>
          <a:stretch>
            <a:fillRect/>
          </a:stretch>
        </p:blipFill>
        <p:spPr>
          <a:xfrm>
            <a:off x="212803" y="3429000"/>
            <a:ext cx="5512136" cy="2890350"/>
          </a:xfrm>
          <a:prstGeom prst="rect">
            <a:avLst/>
          </a:prstGeom>
          <a:noFill/>
          <a:ln>
            <a:noFill/>
            <a:prstDash/>
          </a:ln>
        </p:spPr>
      </p:pic>
      <p:pic>
        <p:nvPicPr>
          <p:cNvPr id="8" name="Picture 7" descr="A map of a city&#10;&#10;AI-generated content may be incorrect.">
            <a:extLst>
              <a:ext uri="{FF2B5EF4-FFF2-40B4-BE49-F238E27FC236}">
                <a16:creationId xmlns:a16="http://schemas.microsoft.com/office/drawing/2014/main" id="{48B7881C-8AF4-3879-5B78-816AE8B12678}"/>
              </a:ext>
            </a:extLst>
          </p:cNvPr>
          <p:cNvPicPr/>
          <p:nvPr/>
        </p:nvPicPr>
        <p:blipFill>
          <a:blip r:embed="rId4"/>
          <a:stretch>
            <a:fillRect/>
          </a:stretch>
        </p:blipFill>
        <p:spPr>
          <a:xfrm>
            <a:off x="6095999" y="3429001"/>
            <a:ext cx="5189612" cy="2890350"/>
          </a:xfrm>
          <a:prstGeom prst="rect">
            <a:avLst/>
          </a:prstGeom>
          <a:noFill/>
          <a:ln>
            <a:noFill/>
            <a:prstDash/>
          </a:ln>
        </p:spPr>
      </p:pic>
    </p:spTree>
    <p:extLst>
      <p:ext uri="{BB962C8B-B14F-4D97-AF65-F5344CB8AC3E}">
        <p14:creationId xmlns:p14="http://schemas.microsoft.com/office/powerpoint/2010/main" val="981671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38</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1423987"/>
            <a:ext cx="10825642" cy="836980"/>
          </a:xfrm>
          <a:prstGeom prst="rect">
            <a:avLst/>
          </a:prstGeom>
        </p:spPr>
        <p:txBody>
          <a:bodyPr lIns="91440" tIns="45720" rIns="91440" bIns="45720" anchor="t">
            <a:normAutofit fontScale="62500" lnSpcReduction="20000"/>
          </a:bodyPr>
          <a:lstStyle/>
          <a:p>
            <a:r>
              <a:rPr lang="en-US" sz="2400" dirty="0"/>
              <a:t>KSC LC 39A shows a higher proportion of successful landings.</a:t>
            </a:r>
          </a:p>
          <a:p>
            <a:r>
              <a:rPr lang="en-US" sz="2400" dirty="0"/>
              <a:t>CCAFS SLC 40 has a mix but leans toward more successes in later flights.</a:t>
            </a:r>
          </a:p>
          <a:p>
            <a:r>
              <a:rPr lang="en-US" sz="2400" dirty="0"/>
              <a:t>VAFB SLC 4E has fewer launches, but most are failures or mixed.</a:t>
            </a:r>
          </a:p>
          <a:p>
            <a:pPr>
              <a:spcBef>
                <a:spcPts val="1400"/>
              </a:spcBef>
            </a:pPr>
            <a:endParaRPr lang="en-US" dirty="0">
              <a:solidFill>
                <a:schemeClr val="accent3">
                  <a:lumMod val="25000"/>
                </a:schemeClr>
              </a:solidFill>
            </a:endParaRPr>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Sites Success Rates Explored</a:t>
            </a:r>
          </a:p>
        </p:txBody>
      </p:sp>
      <p:pic>
        <p:nvPicPr>
          <p:cNvPr id="2" name="Picture 1" descr="A map of the united states&#10;&#10;AI-generated content may be incorrect.">
            <a:extLst>
              <a:ext uri="{FF2B5EF4-FFF2-40B4-BE49-F238E27FC236}">
                <a16:creationId xmlns:a16="http://schemas.microsoft.com/office/drawing/2014/main" id="{2EE52A41-B04E-7C3F-FF5A-C54ECD4A819C}"/>
              </a:ext>
            </a:extLst>
          </p:cNvPr>
          <p:cNvPicPr/>
          <p:nvPr/>
        </p:nvPicPr>
        <p:blipFill>
          <a:blip r:embed="rId3"/>
          <a:stretch>
            <a:fillRect/>
          </a:stretch>
        </p:blipFill>
        <p:spPr>
          <a:xfrm>
            <a:off x="127481" y="2501099"/>
            <a:ext cx="5001109" cy="2667250"/>
          </a:xfrm>
          <a:prstGeom prst="rect">
            <a:avLst/>
          </a:prstGeom>
          <a:noFill/>
          <a:ln>
            <a:noFill/>
            <a:prstDash/>
          </a:ln>
        </p:spPr>
      </p:pic>
      <p:pic>
        <p:nvPicPr>
          <p:cNvPr id="4" name="Picture 3" descr="A map of a city&#10;&#10;AI-generated content may be incorrect.">
            <a:extLst>
              <a:ext uri="{FF2B5EF4-FFF2-40B4-BE49-F238E27FC236}">
                <a16:creationId xmlns:a16="http://schemas.microsoft.com/office/drawing/2014/main" id="{83947E99-B90F-C649-3BE1-D1E99777653A}"/>
              </a:ext>
            </a:extLst>
          </p:cNvPr>
          <p:cNvPicPr/>
          <p:nvPr/>
        </p:nvPicPr>
        <p:blipFill>
          <a:blip r:embed="rId4"/>
          <a:stretch>
            <a:fillRect/>
          </a:stretch>
        </p:blipFill>
        <p:spPr>
          <a:xfrm>
            <a:off x="4213570" y="4170267"/>
            <a:ext cx="3141387" cy="2256944"/>
          </a:xfrm>
          <a:prstGeom prst="rect">
            <a:avLst/>
          </a:prstGeom>
          <a:noFill/>
          <a:ln>
            <a:noFill/>
            <a:prstDash/>
          </a:ln>
        </p:spPr>
      </p:pic>
      <p:pic>
        <p:nvPicPr>
          <p:cNvPr id="6" name="Picture 5" descr="A map with a location on it&#10;&#10;AI-generated content may be incorrect.">
            <a:extLst>
              <a:ext uri="{FF2B5EF4-FFF2-40B4-BE49-F238E27FC236}">
                <a16:creationId xmlns:a16="http://schemas.microsoft.com/office/drawing/2014/main" id="{50C5509C-7829-0B5F-60E6-8F974D0ADE00}"/>
              </a:ext>
            </a:extLst>
          </p:cNvPr>
          <p:cNvPicPr/>
          <p:nvPr/>
        </p:nvPicPr>
        <p:blipFill>
          <a:blip r:embed="rId5"/>
          <a:stretch>
            <a:fillRect/>
          </a:stretch>
        </p:blipFill>
        <p:spPr>
          <a:xfrm>
            <a:off x="6900754" y="3074505"/>
            <a:ext cx="2534794" cy="2539168"/>
          </a:xfrm>
          <a:prstGeom prst="rect">
            <a:avLst/>
          </a:prstGeom>
          <a:noFill/>
          <a:ln>
            <a:noFill/>
            <a:prstDash/>
          </a:ln>
        </p:spPr>
      </p:pic>
    </p:spTree>
    <p:extLst>
      <p:ext uri="{BB962C8B-B14F-4D97-AF65-F5344CB8AC3E}">
        <p14:creationId xmlns:p14="http://schemas.microsoft.com/office/powerpoint/2010/main" val="239597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39</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690688"/>
            <a:ext cx="8597827" cy="4314825"/>
          </a:xfrm>
          <a:prstGeom prst="rect">
            <a:avLst/>
          </a:prstGeom>
        </p:spPr>
        <p:txBody>
          <a:bodyPr lIns="91440" tIns="45720" rIns="91440" bIns="45720" anchor="t">
            <a:normAutofit/>
          </a:bodyPr>
          <a:lstStyle/>
          <a:p>
            <a:pPr>
              <a:lnSpc>
                <a:spcPct val="100000"/>
              </a:lnSpc>
              <a:spcBef>
                <a:spcPts val="1400"/>
              </a:spcBef>
            </a:pPr>
            <a:r>
              <a:rPr lang="en-US" sz="2200">
                <a:solidFill>
                  <a:schemeClr val="accent3">
                    <a:lumMod val="25000"/>
                  </a:schemeClr>
                </a:solidFill>
                <a:latin typeface="Abadi"/>
              </a:rPr>
              <a:t>Screenshot not available due to error: </a:t>
            </a:r>
          </a:p>
          <a:p>
            <a:pPr>
              <a:lnSpc>
                <a:spcPct val="100000"/>
              </a:lnSpc>
              <a:spcBef>
                <a:spcPts val="1400"/>
              </a:spcBef>
            </a:pPr>
            <a:r>
              <a:rPr lang="en-US" sz="2200">
                <a:solidFill>
                  <a:schemeClr val="accent3">
                    <a:lumMod val="25000"/>
                  </a:schemeClr>
                </a:solidFill>
                <a:latin typeface="Abadi"/>
              </a:rPr>
              <a:t>Code broken down below:</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solidFill>
                  <a:srgbClr val="0B49CB"/>
                </a:solidFill>
                <a:latin typeface="Abadi" panose="020B0604020104020204" pitchFamily="34" charset="0"/>
              </a:rPr>
              <a:t>Distances Between a Launch Sites to its Proximities</a:t>
            </a:r>
            <a:endParaRPr lang="en-US" dirty="0">
              <a:solidFill>
                <a:srgbClr val="0B49CB"/>
              </a:solidFill>
              <a:latin typeface="Abadi" panose="020B0604020104020204" pitchFamily="34" charset="0"/>
            </a:endParaRPr>
          </a:p>
        </p:txBody>
      </p:sp>
      <p:pic>
        <p:nvPicPr>
          <p:cNvPr id="4" name="Picture 3">
            <a:extLst>
              <a:ext uri="{FF2B5EF4-FFF2-40B4-BE49-F238E27FC236}">
                <a16:creationId xmlns:a16="http://schemas.microsoft.com/office/drawing/2014/main" id="{C818F918-2BFE-E918-2287-CB34A3D5E25B}"/>
              </a:ext>
            </a:extLst>
          </p:cNvPr>
          <p:cNvPicPr>
            <a:picLocks noChangeAspect="1"/>
          </p:cNvPicPr>
          <p:nvPr/>
        </p:nvPicPr>
        <p:blipFill>
          <a:blip r:embed="rId3"/>
          <a:stretch>
            <a:fillRect/>
          </a:stretch>
        </p:blipFill>
        <p:spPr>
          <a:xfrm>
            <a:off x="5820032" y="1518628"/>
            <a:ext cx="5465579" cy="614348"/>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D9E141DA-BD21-DD1B-D111-50751F37B5BC}"/>
              </a:ext>
            </a:extLst>
          </p:cNvPr>
          <p:cNvPicPr/>
          <p:nvPr/>
        </p:nvPicPr>
        <p:blipFill>
          <a:blip r:embed="rId4"/>
          <a:stretch>
            <a:fillRect/>
          </a:stretch>
        </p:blipFill>
        <p:spPr>
          <a:xfrm>
            <a:off x="963552" y="2681793"/>
            <a:ext cx="3756729" cy="1334153"/>
          </a:xfrm>
          <a:prstGeom prst="rect">
            <a:avLst/>
          </a:prstGeom>
          <a:noFill/>
          <a:ln>
            <a:noFill/>
            <a:prstDash/>
          </a:ln>
        </p:spPr>
      </p:pic>
      <p:pic>
        <p:nvPicPr>
          <p:cNvPr id="7" name="Picture 6" descr="A screenshot of a computer program&#10;&#10;AI-generated content may be incorrect.">
            <a:extLst>
              <a:ext uri="{FF2B5EF4-FFF2-40B4-BE49-F238E27FC236}">
                <a16:creationId xmlns:a16="http://schemas.microsoft.com/office/drawing/2014/main" id="{50ED1C5C-5BF8-100B-C709-19860B19C16D}"/>
              </a:ext>
            </a:extLst>
          </p:cNvPr>
          <p:cNvPicPr/>
          <p:nvPr/>
        </p:nvPicPr>
        <p:blipFill>
          <a:blip r:embed="rId5"/>
          <a:stretch>
            <a:fillRect/>
          </a:stretch>
        </p:blipFill>
        <p:spPr>
          <a:xfrm>
            <a:off x="963552" y="4350324"/>
            <a:ext cx="2252450" cy="1633975"/>
          </a:xfrm>
          <a:prstGeom prst="rect">
            <a:avLst/>
          </a:prstGeom>
          <a:noFill/>
          <a:ln>
            <a:noFill/>
            <a:prstDash/>
          </a:ln>
        </p:spPr>
      </p:pic>
      <p:pic>
        <p:nvPicPr>
          <p:cNvPr id="9" name="Picture 8" descr="A screen shot of a computer&#10;&#10;AI-generated content may be incorrect.">
            <a:extLst>
              <a:ext uri="{FF2B5EF4-FFF2-40B4-BE49-F238E27FC236}">
                <a16:creationId xmlns:a16="http://schemas.microsoft.com/office/drawing/2014/main" id="{412FDFE6-E04B-E5F1-C41C-484C7DF43FE9}"/>
              </a:ext>
            </a:extLst>
          </p:cNvPr>
          <p:cNvPicPr/>
          <p:nvPr/>
        </p:nvPicPr>
        <p:blipFill>
          <a:blip r:embed="rId6"/>
          <a:stretch>
            <a:fillRect/>
          </a:stretch>
        </p:blipFill>
        <p:spPr>
          <a:xfrm>
            <a:off x="5068923" y="2681793"/>
            <a:ext cx="3894438" cy="614349"/>
          </a:xfrm>
          <a:prstGeom prst="rect">
            <a:avLst/>
          </a:prstGeom>
          <a:noFill/>
          <a:ln>
            <a:noFill/>
            <a:prstDash/>
          </a:ln>
        </p:spPr>
      </p:pic>
      <p:pic>
        <p:nvPicPr>
          <p:cNvPr id="10" name="Picture 9" descr="A screen shot of a computer&#10;&#10;AI-generated content may be incorrect.">
            <a:extLst>
              <a:ext uri="{FF2B5EF4-FFF2-40B4-BE49-F238E27FC236}">
                <a16:creationId xmlns:a16="http://schemas.microsoft.com/office/drawing/2014/main" id="{B94818ED-DBCA-B51E-3D89-14F7B2444727}"/>
              </a:ext>
            </a:extLst>
          </p:cNvPr>
          <p:cNvPicPr/>
          <p:nvPr/>
        </p:nvPicPr>
        <p:blipFill>
          <a:blip r:embed="rId7"/>
          <a:stretch>
            <a:fillRect/>
          </a:stretch>
        </p:blipFill>
        <p:spPr>
          <a:xfrm>
            <a:off x="5107939" y="3429000"/>
            <a:ext cx="3444882" cy="1270410"/>
          </a:xfrm>
          <a:prstGeom prst="rect">
            <a:avLst/>
          </a:prstGeom>
          <a:noFill/>
          <a:ln>
            <a:noFill/>
            <a:prstDash/>
          </a:ln>
        </p:spPr>
      </p:pic>
      <p:pic>
        <p:nvPicPr>
          <p:cNvPr id="11" name="Picture 10" descr="A screen shot of a computer&#10;&#10;AI-generated content may be incorrect.">
            <a:extLst>
              <a:ext uri="{FF2B5EF4-FFF2-40B4-BE49-F238E27FC236}">
                <a16:creationId xmlns:a16="http://schemas.microsoft.com/office/drawing/2014/main" id="{5515668A-F15C-8EB6-5D27-0A7FE59B64BD}"/>
              </a:ext>
            </a:extLst>
          </p:cNvPr>
          <p:cNvPicPr/>
          <p:nvPr/>
        </p:nvPicPr>
        <p:blipFill>
          <a:blip r:embed="rId8"/>
          <a:stretch>
            <a:fillRect/>
          </a:stretch>
        </p:blipFill>
        <p:spPr>
          <a:xfrm>
            <a:off x="5068923" y="4966174"/>
            <a:ext cx="3868061" cy="1013601"/>
          </a:xfrm>
          <a:prstGeom prst="rect">
            <a:avLst/>
          </a:prstGeom>
          <a:noFill/>
          <a:ln>
            <a:noFill/>
            <a:prstDash/>
          </a:ln>
        </p:spPr>
      </p:pic>
    </p:spTree>
    <p:extLst>
      <p:ext uri="{BB962C8B-B14F-4D97-AF65-F5344CB8AC3E}">
        <p14:creationId xmlns:p14="http://schemas.microsoft.com/office/powerpoint/2010/main" val="232499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41</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1433548"/>
            <a:ext cx="114219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Site with highest success rate: KSC LC-39A (41.7%), followed by CCAFS LC-40 (29.2%)</a:t>
            </a:r>
          </a:p>
          <a:p>
            <a:pPr>
              <a:lnSpc>
                <a:spcPct val="100000"/>
              </a:lnSpc>
              <a:spcBef>
                <a:spcPts val="1400"/>
              </a:spcBef>
            </a:pPr>
            <a:r>
              <a:rPr lang="en-US" sz="2200" dirty="0">
                <a:solidFill>
                  <a:schemeClr val="accent3">
                    <a:lumMod val="25000"/>
                  </a:schemeClr>
                </a:solidFill>
                <a:latin typeface="Abadi"/>
              </a:rPr>
              <a:t>Sites with lowest success rate: VAFB SLC-4E (16.7%), followed by CCAFS SLC-40 (12.5%)</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Count for All Sites</a:t>
            </a:r>
          </a:p>
        </p:txBody>
      </p:sp>
      <p:pic>
        <p:nvPicPr>
          <p:cNvPr id="2" name="Picture 1">
            <a:extLst>
              <a:ext uri="{FF2B5EF4-FFF2-40B4-BE49-F238E27FC236}">
                <a16:creationId xmlns:a16="http://schemas.microsoft.com/office/drawing/2014/main" id="{9F8005FA-F476-4817-CB3E-93C1D00976A8}"/>
              </a:ext>
            </a:extLst>
          </p:cNvPr>
          <p:cNvPicPr/>
          <p:nvPr/>
        </p:nvPicPr>
        <p:blipFill>
          <a:blip r:embed="rId3"/>
          <a:stretch>
            <a:fillRect/>
          </a:stretch>
        </p:blipFill>
        <p:spPr>
          <a:xfrm>
            <a:off x="1595841" y="2582974"/>
            <a:ext cx="8093927" cy="3844237"/>
          </a:xfrm>
          <a:prstGeom prst="rect">
            <a:avLst/>
          </a:prstGeom>
          <a:noFill/>
          <a:ln>
            <a:noFill/>
            <a:prstDash/>
          </a:ln>
        </p:spPr>
      </p:pic>
    </p:spTree>
    <p:extLst>
      <p:ext uri="{BB962C8B-B14F-4D97-AF65-F5344CB8AC3E}">
        <p14:creationId xmlns:p14="http://schemas.microsoft.com/office/powerpoint/2010/main" val="700132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42</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34027" y="1825625"/>
            <a:ext cx="10551583"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Site with highest success rate: KSC LC-39A (41.7%),</a:t>
            </a:r>
            <a:endParaRPr lang="en-US" dirty="0"/>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lnSpc>
                <a:spcPct val="100000"/>
              </a:lnSpc>
              <a:spcBef>
                <a:spcPts val="1400"/>
              </a:spcBef>
            </a:pPr>
            <a:r>
              <a:rPr lang="en-US" dirty="0">
                <a:solidFill>
                  <a:srgbClr val="0B49CB"/>
                </a:solidFill>
                <a:latin typeface="Abadi"/>
              </a:rPr>
              <a:t>Launch site with Highest Launch Success Ratio</a:t>
            </a:r>
          </a:p>
        </p:txBody>
      </p:sp>
      <p:pic>
        <p:nvPicPr>
          <p:cNvPr id="2" name="Picture 1">
            <a:extLst>
              <a:ext uri="{FF2B5EF4-FFF2-40B4-BE49-F238E27FC236}">
                <a16:creationId xmlns:a16="http://schemas.microsoft.com/office/drawing/2014/main" id="{5E568AE2-B1BB-EAC7-A8D5-36737CCD76A4}"/>
              </a:ext>
            </a:extLst>
          </p:cNvPr>
          <p:cNvPicPr/>
          <p:nvPr/>
        </p:nvPicPr>
        <p:blipFill>
          <a:blip r:embed="rId3"/>
          <a:stretch>
            <a:fillRect/>
          </a:stretch>
        </p:blipFill>
        <p:spPr>
          <a:xfrm>
            <a:off x="770011" y="2720134"/>
            <a:ext cx="8093927" cy="3844237"/>
          </a:xfrm>
          <a:prstGeom prst="rect">
            <a:avLst/>
          </a:prstGeom>
          <a:noFill/>
          <a:ln>
            <a:noFill/>
            <a:prstDash/>
          </a:ln>
        </p:spPr>
      </p:pic>
    </p:spTree>
    <p:extLst>
      <p:ext uri="{BB962C8B-B14F-4D97-AF65-F5344CB8AC3E}">
        <p14:creationId xmlns:p14="http://schemas.microsoft.com/office/powerpoint/2010/main" val="18661607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43</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1425575"/>
            <a:ext cx="10414662" cy="1603375"/>
          </a:xfrm>
          <a:prstGeom prst="rect">
            <a:avLst/>
          </a:prstGeom>
        </p:spPr>
        <p:txBody>
          <a:bodyPr lIns="91440" tIns="45720" rIns="91440" bIns="45720" anchor="t">
            <a:normAutofit fontScale="55000" lnSpcReduction="20000"/>
          </a:bodyPr>
          <a:lstStyle/>
          <a:p>
            <a:r>
              <a:rPr lang="en-US" dirty="0"/>
              <a:t>Booster Versions FT and B4 dominate the successful launches.</a:t>
            </a:r>
          </a:p>
          <a:p>
            <a:r>
              <a:rPr lang="en-US" dirty="0"/>
              <a:t>v1.0 and v1.1 show more failures, especially at lower payloads — suggesting older versions were less reliable.</a:t>
            </a:r>
          </a:p>
          <a:p>
            <a:r>
              <a:rPr lang="en-US" dirty="0"/>
              <a:t>Payloads between 2,000–6,000 kg show the highest concentration of successes, regardless of booster version.</a:t>
            </a:r>
          </a:p>
          <a:p>
            <a:r>
              <a:rPr lang="en-US" dirty="0"/>
              <a:t>Very light payloads (&lt;1,000 kg) and heavy payloads (&gt;6,000 kg) tend to have a higher proportion of failures, though some exceptions exist.</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panose="020B0604020104020204" pitchFamily="34" charset="0"/>
              </a:rPr>
              <a:t>Payload vs. Launch Outcome Scatter Plot</a:t>
            </a:r>
            <a:endParaRPr lang="en-US" dirty="0">
              <a:solidFill>
                <a:srgbClr val="0B49CB"/>
              </a:solidFill>
              <a:latin typeface="Abadi"/>
            </a:endParaRPr>
          </a:p>
        </p:txBody>
      </p:sp>
      <p:pic>
        <p:nvPicPr>
          <p:cNvPr id="2" name="Picture 1" descr="A screenshot of a computer&#10;&#10;AI-generated content may be incorrect.">
            <a:extLst>
              <a:ext uri="{FF2B5EF4-FFF2-40B4-BE49-F238E27FC236}">
                <a16:creationId xmlns:a16="http://schemas.microsoft.com/office/drawing/2014/main" id="{49F60D79-227B-5E49-4E83-DDDC7D0BC223}"/>
              </a:ext>
            </a:extLst>
          </p:cNvPr>
          <p:cNvPicPr/>
          <p:nvPr/>
        </p:nvPicPr>
        <p:blipFill>
          <a:blip r:embed="rId3"/>
          <a:stretch>
            <a:fillRect/>
          </a:stretch>
        </p:blipFill>
        <p:spPr>
          <a:xfrm>
            <a:off x="849524" y="2837064"/>
            <a:ext cx="9968613" cy="3661709"/>
          </a:xfrm>
          <a:prstGeom prst="rect">
            <a:avLst/>
          </a:prstGeom>
          <a:noFill/>
          <a:ln>
            <a:noFill/>
            <a:prstDash/>
          </a:ln>
        </p:spPr>
      </p:pic>
    </p:spTree>
    <p:extLst>
      <p:ext uri="{BB962C8B-B14F-4D97-AF65-F5344CB8AC3E}">
        <p14:creationId xmlns:p14="http://schemas.microsoft.com/office/powerpoint/2010/main" val="252359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01822" y="1424304"/>
            <a:ext cx="5325989" cy="3811588"/>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a:rPr>
              <a:t>Model Accuracy Bar Chart:</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All models displayed the exact same model accuracy</a:t>
            </a: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pic>
        <p:nvPicPr>
          <p:cNvPr id="3" name="Picture 2">
            <a:extLst>
              <a:ext uri="{FF2B5EF4-FFF2-40B4-BE49-F238E27FC236}">
                <a16:creationId xmlns:a16="http://schemas.microsoft.com/office/drawing/2014/main" id="{FB7C382F-2688-7EC0-3C12-388FA8CBE04D}"/>
              </a:ext>
            </a:extLst>
          </p:cNvPr>
          <p:cNvPicPr>
            <a:picLocks noChangeAspect="1"/>
          </p:cNvPicPr>
          <p:nvPr/>
        </p:nvPicPr>
        <p:blipFill>
          <a:blip r:embed="rId3"/>
          <a:stretch>
            <a:fillRect/>
          </a:stretch>
        </p:blipFill>
        <p:spPr>
          <a:xfrm>
            <a:off x="5522986" y="1622108"/>
            <a:ext cx="5762625" cy="3590925"/>
          </a:xfrm>
          <a:prstGeom prst="rect">
            <a:avLst/>
          </a:prstGeom>
        </p:spPr>
      </p:pic>
    </p:spTree>
    <p:extLst>
      <p:ext uri="{BB962C8B-B14F-4D97-AF65-F5344CB8AC3E}">
        <p14:creationId xmlns:p14="http://schemas.microsoft.com/office/powerpoint/2010/main" val="24594460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1" y="1593721"/>
            <a:ext cx="4944989" cy="3811588"/>
          </a:xfrm>
          <a:prstGeom prst="rect">
            <a:avLst/>
          </a:prstGeom>
        </p:spPr>
        <p:txBody>
          <a:bodyPr>
            <a:normAutofit/>
          </a:bodyPr>
          <a:lstStyle/>
          <a:p>
            <a:r>
              <a:rPr lang="en-US" dirty="0"/>
              <a:t>Overview:</a:t>
            </a:r>
          </a:p>
          <a:p>
            <a:r>
              <a:rPr lang="en-US" dirty="0"/>
              <a:t>True </a:t>
            </a:r>
            <a:r>
              <a:rPr lang="en-US" dirty="0" err="1"/>
              <a:t>Postive</a:t>
            </a:r>
            <a:r>
              <a:rPr lang="en-US" dirty="0"/>
              <a:t> - 12 (True label is landed, Predicted label is also landed)</a:t>
            </a:r>
          </a:p>
          <a:p>
            <a:r>
              <a:rPr lang="en-US" dirty="0"/>
              <a:t>False </a:t>
            </a:r>
            <a:r>
              <a:rPr lang="en-US" dirty="0" err="1"/>
              <a:t>Postive</a:t>
            </a:r>
            <a:r>
              <a:rPr lang="en-US" dirty="0"/>
              <a:t> - 3 (True label is not landed, Predicted label is landed)</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solidFill>
                  <a:srgbClr val="0B49CB"/>
                </a:solidFill>
                <a:latin typeface="Abadi"/>
              </a:rPr>
              <a:t>Confusion Matrix</a:t>
            </a:r>
            <a:endParaRPr lang="en-US" dirty="0">
              <a:solidFill>
                <a:srgbClr val="0B49CB"/>
              </a:solidFill>
            </a:endParaRPr>
          </a:p>
        </p:txBody>
      </p:sp>
      <p:pic>
        <p:nvPicPr>
          <p:cNvPr id="2" name="Picture 1" descr="A screenshot of a graph&#10;&#10;AI-generated content may be incorrect.">
            <a:extLst>
              <a:ext uri="{FF2B5EF4-FFF2-40B4-BE49-F238E27FC236}">
                <a16:creationId xmlns:a16="http://schemas.microsoft.com/office/drawing/2014/main" id="{56CFFF95-C12D-D755-3CC5-153298F9ECD3}"/>
              </a:ext>
            </a:extLst>
          </p:cNvPr>
          <p:cNvPicPr/>
          <p:nvPr/>
        </p:nvPicPr>
        <p:blipFill>
          <a:blip r:embed="rId3"/>
          <a:stretch>
            <a:fillRect/>
          </a:stretch>
        </p:blipFill>
        <p:spPr>
          <a:xfrm>
            <a:off x="5919486" y="1485959"/>
            <a:ext cx="5590572" cy="4539614"/>
          </a:xfrm>
          <a:prstGeom prst="rect">
            <a:avLst/>
          </a:prstGeom>
          <a:noFill/>
          <a:ln>
            <a:noFill/>
            <a:prstDash/>
          </a:ln>
        </p:spPr>
      </p:pic>
    </p:spTree>
    <p:extLst>
      <p:ext uri="{BB962C8B-B14F-4D97-AF65-F5344CB8AC3E}">
        <p14:creationId xmlns:p14="http://schemas.microsoft.com/office/powerpoint/2010/main" val="3645034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47</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10865729" cy="4351338"/>
          </a:xfrm>
          <a:prstGeom prst="rect">
            <a:avLst/>
          </a:prstGeom>
        </p:spPr>
        <p:txBody>
          <a:bodyPr>
            <a:normAutofit fontScale="92500" lnSpcReduction="20000"/>
          </a:bodyPr>
          <a:lstStyle/>
          <a:p>
            <a:r>
              <a:rPr lang="en-US" dirty="0"/>
              <a:t>Launch success is influenced by experience — newer flight numbers are significantly more successful.</a:t>
            </a:r>
          </a:p>
          <a:p>
            <a:r>
              <a:rPr lang="en-US" dirty="0"/>
              <a:t>Orbit type is a strong predictor of outcome, with GTO being most risky and SSO/LEO the most reliable.</a:t>
            </a:r>
          </a:p>
          <a:p>
            <a:r>
              <a:rPr lang="en-US" dirty="0"/>
              <a:t>Mid-weight payloads (2,000–6,000 kg) tend to have the highest success rates, regardless of site or booster.</a:t>
            </a:r>
          </a:p>
          <a:p>
            <a:r>
              <a:rPr lang="en-US" dirty="0"/>
              <a:t>Booster versions matter — newer versions (FT, B4) clearly outperform older ones (v1.0, v1.1).</a:t>
            </a:r>
          </a:p>
          <a:p>
            <a:r>
              <a:rPr lang="en-US" dirty="0"/>
              <a:t>Launch site success varies — KSC LC 39A is the most reliable, VAFB SLC 4E the least.</a:t>
            </a:r>
          </a:p>
          <a:p>
            <a:r>
              <a:rPr lang="en-US" dirty="0"/>
              <a:t>All models performed equally (83.33% accuracy), with SVM offering better generalization, making it the preferred model.</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23054</TotalTime>
  <Words>2841</Words>
  <Application>Microsoft Office PowerPoint</Application>
  <PresentationFormat>Widescreen</PresentationFormat>
  <Paragraphs>438</Paragraphs>
  <Slides>48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Abadi</vt:lpstr>
      <vt:lpstr>Arial</vt:lpstr>
      <vt:lpstr>Calibri</vt:lpstr>
      <vt:lpstr>IBM Plex Mono SemiBold</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Douglas Alcantara</cp:lastModifiedBy>
  <cp:revision>207</cp:revision>
  <dcterms:created xsi:type="dcterms:W3CDTF">2021-04-29T18:58:34Z</dcterms:created>
  <dcterms:modified xsi:type="dcterms:W3CDTF">2025-07-28T21:49:08Z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